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Default Extension="jpg" ContentType="image/jpg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5765800" cy="3244850"/>
  <p:notesSz cx="5765800" cy="3244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F9F9F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0"/>
            <a:ext cx="5760085" cy="353060"/>
          </a:xfrm>
          <a:custGeom>
            <a:avLst/>
            <a:gdLst/>
            <a:ahLst/>
            <a:cxnLst/>
            <a:rect l="l" t="t" r="r" b="b"/>
            <a:pathLst>
              <a:path w="5760085" h="353060">
                <a:moveTo>
                  <a:pt x="5759996" y="0"/>
                </a:moveTo>
                <a:lnTo>
                  <a:pt x="0" y="0"/>
                </a:lnTo>
                <a:lnTo>
                  <a:pt x="0" y="352844"/>
                </a:lnTo>
                <a:lnTo>
                  <a:pt x="5759996" y="352844"/>
                </a:lnTo>
                <a:lnTo>
                  <a:pt x="5759996" y="0"/>
                </a:lnTo>
                <a:close/>
              </a:path>
            </a:pathLst>
          </a:custGeom>
          <a:solidFill>
            <a:srgbClr val="2D7D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F9F9F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F9F9F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F9F9F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1010" y="64589"/>
            <a:ext cx="3497579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F9F9F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7294" y="644455"/>
            <a:ext cx="4990465" cy="20504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4151376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8.xml"/><Relationship Id="rId5" Type="http://schemas.openxmlformats.org/officeDocument/2006/relationships/slide" Target="slide11.xml"/><Relationship Id="rId6" Type="http://schemas.openxmlformats.org/officeDocument/2006/relationships/slide" Target="slide13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5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8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11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13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47294" y="780526"/>
            <a:ext cx="116078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100">
                <a:solidFill>
                  <a:srgbClr val="22373A"/>
                </a:solidFill>
              </a:rPr>
              <a:t>TrashTracker</a:t>
            </a:r>
            <a:endParaRPr sz="1400"/>
          </a:p>
        </p:txBody>
      </p:sp>
      <p:sp>
        <p:nvSpPr>
          <p:cNvPr id="4" name="object 4"/>
          <p:cNvSpPr txBox="1"/>
          <p:nvPr/>
        </p:nvSpPr>
        <p:spPr>
          <a:xfrm>
            <a:off x="347294" y="1119248"/>
            <a:ext cx="425196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>
                <a:solidFill>
                  <a:srgbClr val="22373A"/>
                </a:solidFill>
                <a:latin typeface="Calibri"/>
                <a:cs typeface="Calibri"/>
              </a:rPr>
              <a:t>Système</a:t>
            </a:r>
            <a:r>
              <a:rPr dirty="0" sz="1200" spc="2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200" spc="50">
                <a:solidFill>
                  <a:srgbClr val="22373A"/>
                </a:solidFill>
                <a:latin typeface="Calibri"/>
                <a:cs typeface="Calibri"/>
              </a:rPr>
              <a:t>IoT</a:t>
            </a:r>
            <a:r>
              <a:rPr dirty="0" sz="1200" spc="2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2373A"/>
                </a:solidFill>
                <a:latin typeface="Calibri"/>
                <a:cs typeface="Calibri"/>
              </a:rPr>
              <a:t>de</a:t>
            </a:r>
            <a:r>
              <a:rPr dirty="0" sz="1200" spc="2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2373A"/>
                </a:solidFill>
                <a:latin typeface="Calibri"/>
                <a:cs typeface="Calibri"/>
              </a:rPr>
              <a:t>Surveillance</a:t>
            </a:r>
            <a:r>
              <a:rPr dirty="0" sz="1200" spc="2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2373A"/>
                </a:solidFill>
                <a:latin typeface="Calibri"/>
                <a:cs typeface="Calibri"/>
              </a:rPr>
              <a:t>des</a:t>
            </a:r>
            <a:r>
              <a:rPr dirty="0" sz="1200" spc="2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2373A"/>
                </a:solidFill>
                <a:latin typeface="Calibri"/>
                <a:cs typeface="Calibri"/>
              </a:rPr>
              <a:t>Poubelles</a:t>
            </a:r>
            <a:r>
              <a:rPr dirty="0" sz="1200" spc="2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2373A"/>
                </a:solidFill>
                <a:latin typeface="Calibri"/>
                <a:cs typeface="Calibri"/>
              </a:rPr>
              <a:t>Publiques</a:t>
            </a:r>
            <a:r>
              <a:rPr dirty="0" sz="1200" spc="3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2373A"/>
                </a:solidFill>
                <a:latin typeface="Calibri"/>
                <a:cs typeface="Calibri"/>
              </a:rPr>
              <a:t>en</a:t>
            </a:r>
            <a:r>
              <a:rPr dirty="0" sz="1200" spc="2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2373A"/>
                </a:solidFill>
                <a:latin typeface="Calibri"/>
                <a:cs typeface="Calibri"/>
              </a:rPr>
              <a:t>Temps</a:t>
            </a:r>
            <a:r>
              <a:rPr dirty="0" sz="1200" spc="3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22373A"/>
                </a:solidFill>
                <a:latin typeface="Calibri"/>
                <a:cs typeface="Calibri"/>
              </a:rPr>
              <a:t>Réel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9994" y="1527638"/>
            <a:ext cx="5040630" cy="5080"/>
          </a:xfrm>
          <a:custGeom>
            <a:avLst/>
            <a:gdLst/>
            <a:ahLst/>
            <a:cxnLst/>
            <a:rect l="l" t="t" r="r" b="b"/>
            <a:pathLst>
              <a:path w="5040630" h="5080">
                <a:moveTo>
                  <a:pt x="0" y="5060"/>
                </a:moveTo>
                <a:lnTo>
                  <a:pt x="0" y="0"/>
                </a:lnTo>
                <a:lnTo>
                  <a:pt x="5040064" y="0"/>
                </a:lnTo>
                <a:lnTo>
                  <a:pt x="5040064" y="5060"/>
                </a:lnTo>
                <a:lnTo>
                  <a:pt x="0" y="5060"/>
                </a:lnTo>
                <a:close/>
              </a:path>
            </a:pathLst>
          </a:custGeom>
          <a:solidFill>
            <a:srgbClr val="2D7D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132657" y="1800194"/>
            <a:ext cx="87884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Achalhi</a:t>
            </a:r>
            <a:r>
              <a:rPr dirty="0" sz="900" spc="22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Calibri"/>
                <a:cs typeface="Calibri"/>
              </a:rPr>
              <a:t>Abdeljalil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41483" y="1800194"/>
            <a:ext cx="65468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Badr</a:t>
            </a:r>
            <a:r>
              <a:rPr dirty="0" sz="900" spc="23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Calibri"/>
                <a:cs typeface="Calibri"/>
              </a:rPr>
              <a:t>boulaid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7294" y="1747536"/>
            <a:ext cx="2654935" cy="623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8000"/>
              </a:lnSpc>
              <a:spcBef>
                <a:spcPts val="100"/>
              </a:spcBef>
              <a:tabLst>
                <a:tab pos="1187450" algn="l"/>
              </a:tabLst>
            </a:pP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Benazza</a:t>
            </a:r>
            <a:r>
              <a:rPr dirty="0" sz="900" spc="2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Calibri"/>
                <a:cs typeface="Calibri"/>
              </a:rPr>
              <a:t>Mohammed</a:t>
            </a: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	Labrazi</a:t>
            </a:r>
            <a:r>
              <a:rPr dirty="0" sz="900" spc="17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Mohammed</a:t>
            </a:r>
            <a:r>
              <a:rPr dirty="0" sz="900" spc="16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Calibri"/>
                <a:cs typeface="Calibri"/>
              </a:rPr>
              <a:t>yassineY.</a:t>
            </a:r>
            <a:r>
              <a:rPr dirty="0" sz="900" spc="5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Année</a:t>
            </a:r>
            <a:r>
              <a:rPr dirty="0" sz="900" spc="9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Universitaire</a:t>
            </a:r>
            <a:r>
              <a:rPr dirty="0" sz="900" spc="9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2025</a:t>
            </a:r>
            <a:r>
              <a:rPr dirty="0" sz="900" spc="9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–</a:t>
            </a:r>
            <a:r>
              <a:rPr dirty="0" sz="900" spc="1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22373A"/>
                </a:solidFill>
                <a:latin typeface="Calibri"/>
                <a:cs typeface="Calibri"/>
              </a:rPr>
              <a:t>2026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z="700" spc="10">
                <a:solidFill>
                  <a:srgbClr val="22373A"/>
                </a:solidFill>
                <a:latin typeface="Calibri"/>
                <a:cs typeface="Calibri"/>
              </a:rPr>
              <a:t>Module</a:t>
            </a:r>
            <a:r>
              <a:rPr dirty="0" sz="700" spc="19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700" spc="10">
                <a:solidFill>
                  <a:srgbClr val="22373A"/>
                </a:solidFill>
                <a:latin typeface="Calibri"/>
                <a:cs typeface="Calibri"/>
              </a:rPr>
              <a:t>:</a:t>
            </a:r>
            <a:r>
              <a:rPr dirty="0" sz="700" spc="19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700" spc="10">
                <a:solidFill>
                  <a:srgbClr val="22373A"/>
                </a:solidFill>
                <a:latin typeface="Calibri"/>
                <a:cs typeface="Calibri"/>
              </a:rPr>
              <a:t>Systèmes</a:t>
            </a:r>
            <a:r>
              <a:rPr dirty="0" sz="700" spc="19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700" spc="10">
                <a:solidFill>
                  <a:srgbClr val="22373A"/>
                </a:solidFill>
                <a:latin typeface="Calibri"/>
                <a:cs typeface="Calibri"/>
              </a:rPr>
              <a:t>Embarqués</a:t>
            </a:r>
            <a:r>
              <a:rPr dirty="0" sz="700" spc="19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700" spc="105">
                <a:solidFill>
                  <a:srgbClr val="22373A"/>
                </a:solidFill>
                <a:latin typeface="Calibri"/>
                <a:cs typeface="Calibri"/>
              </a:rPr>
              <a:t>&amp;</a:t>
            </a:r>
            <a:r>
              <a:rPr dirty="0" sz="700" spc="19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700" spc="45">
                <a:solidFill>
                  <a:srgbClr val="22373A"/>
                </a:solidFill>
                <a:latin typeface="Calibri"/>
                <a:cs typeface="Calibri"/>
              </a:rPr>
              <a:t>IoT</a:t>
            </a:r>
            <a:endParaRPr sz="700"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50"/>
              <a:t>Sommaire</a:t>
            </a:r>
            <a:r>
              <a:rPr dirty="0" spc="225"/>
              <a:t> </a:t>
            </a:r>
            <a:r>
              <a:rPr dirty="0"/>
              <a:t>de</a:t>
            </a:r>
            <a:r>
              <a:rPr dirty="0" spc="225"/>
              <a:t> </a:t>
            </a:r>
            <a:r>
              <a:rPr dirty="0"/>
              <a:t>la</a:t>
            </a:r>
            <a:r>
              <a:rPr dirty="0" spc="225"/>
              <a:t> </a:t>
            </a:r>
            <a:r>
              <a:rPr dirty="0" spc="-10"/>
              <a:t>présentation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740453"/>
            <a:ext cx="1763395" cy="1686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2400" indent="-13970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152400" algn="l"/>
              </a:tabLst>
            </a:pPr>
            <a:r>
              <a:rPr dirty="0" sz="1000">
                <a:solidFill>
                  <a:srgbClr val="22373A"/>
                </a:solidFill>
                <a:latin typeface="Calibri"/>
                <a:cs typeface="Calibri"/>
                <a:hlinkClick r:id="rId2" action="ppaction://hlinksldjump"/>
              </a:rPr>
              <a:t>Introduction</a:t>
            </a:r>
            <a:r>
              <a:rPr dirty="0" sz="1000" spc="55">
                <a:solidFill>
                  <a:srgbClr val="22373A"/>
                </a:solidFill>
                <a:latin typeface="Calibri"/>
                <a:cs typeface="Calibri"/>
                <a:hlinkClick r:id="rId2" action="ppaction://hlinksldjump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  <a:hlinkClick r:id="rId2" action="ppaction://hlinksldjump"/>
              </a:rPr>
              <a:t>et</a:t>
            </a:r>
            <a:r>
              <a:rPr dirty="0" sz="1000" spc="55">
                <a:solidFill>
                  <a:srgbClr val="22373A"/>
                </a:solidFill>
                <a:latin typeface="Calibri"/>
                <a:cs typeface="Calibri"/>
                <a:hlinkClick r:id="rId2" action="ppaction://hlinksldjump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  <a:hlinkClick r:id="rId2" action="ppaction://hlinksldjump"/>
              </a:rPr>
              <a:t>Problématique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85"/>
              </a:spcBef>
              <a:buClr>
                <a:srgbClr val="22373A"/>
              </a:buClr>
              <a:buFont typeface="Calibri"/>
              <a:buAutoNum type="arabicPeriod"/>
            </a:pPr>
            <a:endParaRPr sz="1000">
              <a:latin typeface="Calibri"/>
              <a:cs typeface="Calibri"/>
            </a:endParaRPr>
          </a:p>
          <a:p>
            <a:pPr marL="152400" indent="-139700">
              <a:lnSpc>
                <a:spcPct val="100000"/>
              </a:lnSpc>
              <a:buAutoNum type="arabicPeriod"/>
              <a:tabLst>
                <a:tab pos="152400" algn="l"/>
              </a:tabLst>
            </a:pPr>
            <a:r>
              <a:rPr dirty="0" sz="1000">
                <a:solidFill>
                  <a:srgbClr val="22373A"/>
                </a:solidFill>
                <a:latin typeface="Calibri"/>
                <a:cs typeface="Calibri"/>
                <a:hlinkClick r:id="rId3" action="ppaction://hlinksldjump"/>
              </a:rPr>
              <a:t>Architecture</a:t>
            </a:r>
            <a:r>
              <a:rPr dirty="0" sz="1000" spc="75">
                <a:solidFill>
                  <a:srgbClr val="22373A"/>
                </a:solidFill>
                <a:latin typeface="Calibri"/>
                <a:cs typeface="Calibri"/>
                <a:hlinkClick r:id="rId3" action="ppaction://hlinksldjump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  <a:hlinkClick r:id="rId3" action="ppaction://hlinksldjump"/>
              </a:rPr>
              <a:t>et</a:t>
            </a:r>
            <a:r>
              <a:rPr dirty="0" sz="1000" spc="80">
                <a:solidFill>
                  <a:srgbClr val="22373A"/>
                </a:solidFill>
                <a:latin typeface="Calibri"/>
                <a:cs typeface="Calibri"/>
                <a:hlinkClick r:id="rId3" action="ppaction://hlinksldjump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  <a:hlinkClick r:id="rId3" action="ppaction://hlinksldjump"/>
              </a:rPr>
              <a:t>Protocoles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45"/>
              </a:spcBef>
              <a:buClr>
                <a:srgbClr val="22373A"/>
              </a:buClr>
              <a:buFont typeface="Calibri"/>
              <a:buAutoNum type="arabicPeriod"/>
            </a:pPr>
            <a:endParaRPr sz="1000">
              <a:latin typeface="Calibri"/>
              <a:cs typeface="Calibri"/>
            </a:endParaRPr>
          </a:p>
          <a:p>
            <a:pPr marL="152400" indent="-139700">
              <a:lnSpc>
                <a:spcPct val="100000"/>
              </a:lnSpc>
              <a:buAutoNum type="arabicPeriod"/>
              <a:tabLst>
                <a:tab pos="152400" algn="l"/>
              </a:tabLst>
            </a:pPr>
            <a:r>
              <a:rPr dirty="0" sz="1000">
                <a:solidFill>
                  <a:srgbClr val="22373A"/>
                </a:solidFill>
                <a:latin typeface="Calibri"/>
                <a:cs typeface="Calibri"/>
                <a:hlinkClick r:id="rId4" action="ppaction://hlinksldjump"/>
              </a:rPr>
              <a:t>Réalisation</a:t>
            </a:r>
            <a:r>
              <a:rPr dirty="0" sz="1000" spc="160">
                <a:solidFill>
                  <a:srgbClr val="22373A"/>
                </a:solidFill>
                <a:latin typeface="Calibri"/>
                <a:cs typeface="Calibri"/>
                <a:hlinkClick r:id="rId4" action="ppaction://hlinksldjump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  <a:hlinkClick r:id="rId4" action="ppaction://hlinksldjump"/>
              </a:rPr>
              <a:t>Technique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85"/>
              </a:spcBef>
              <a:buClr>
                <a:srgbClr val="22373A"/>
              </a:buClr>
              <a:buFont typeface="Calibri"/>
              <a:buAutoNum type="arabicPeriod"/>
            </a:pPr>
            <a:endParaRPr sz="1000">
              <a:latin typeface="Calibri"/>
              <a:cs typeface="Calibri"/>
            </a:endParaRPr>
          </a:p>
          <a:p>
            <a:pPr marL="152400" indent="-139700">
              <a:lnSpc>
                <a:spcPct val="100000"/>
              </a:lnSpc>
              <a:buAutoNum type="arabicPeriod"/>
              <a:tabLst>
                <a:tab pos="152400" algn="l"/>
              </a:tabLst>
            </a:pPr>
            <a:r>
              <a:rPr dirty="0" sz="1000">
                <a:solidFill>
                  <a:srgbClr val="22373A"/>
                </a:solidFill>
                <a:latin typeface="Calibri"/>
                <a:cs typeface="Calibri"/>
                <a:hlinkClick r:id="rId5" action="ppaction://hlinksldjump"/>
              </a:rPr>
              <a:t>Défis</a:t>
            </a:r>
            <a:r>
              <a:rPr dirty="0" sz="1000" spc="75">
                <a:solidFill>
                  <a:srgbClr val="22373A"/>
                </a:solidFill>
                <a:latin typeface="Calibri"/>
                <a:cs typeface="Calibri"/>
                <a:hlinkClick r:id="rId5" action="ppaction://hlinksldjump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  <a:hlinkClick r:id="rId5" action="ppaction://hlinksldjump"/>
              </a:rPr>
              <a:t>Techniques</a:t>
            </a:r>
            <a:r>
              <a:rPr dirty="0" sz="1000" spc="75">
                <a:solidFill>
                  <a:srgbClr val="22373A"/>
                </a:solidFill>
                <a:latin typeface="Calibri"/>
                <a:cs typeface="Calibri"/>
                <a:hlinkClick r:id="rId5" action="ppaction://hlinksldjump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  <a:hlinkClick r:id="rId5" action="ppaction://hlinksldjump"/>
              </a:rPr>
              <a:t>et</a:t>
            </a:r>
            <a:r>
              <a:rPr dirty="0" sz="1000" spc="80">
                <a:solidFill>
                  <a:srgbClr val="22373A"/>
                </a:solidFill>
                <a:latin typeface="Calibri"/>
                <a:cs typeface="Calibri"/>
                <a:hlinkClick r:id="rId5" action="ppaction://hlinksldjump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  <a:hlinkClick r:id="rId5" action="ppaction://hlinksldjump"/>
              </a:rPr>
              <a:t>Analyse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85"/>
              </a:spcBef>
              <a:buClr>
                <a:srgbClr val="22373A"/>
              </a:buClr>
              <a:buFont typeface="Calibri"/>
              <a:buAutoNum type="arabicPeriod"/>
            </a:pPr>
            <a:endParaRPr sz="1000">
              <a:latin typeface="Calibri"/>
              <a:cs typeface="Calibri"/>
            </a:endParaRPr>
          </a:p>
          <a:p>
            <a:pPr marL="152400" indent="-139700">
              <a:lnSpc>
                <a:spcPct val="100000"/>
              </a:lnSpc>
              <a:buAutoNum type="arabicPeriod"/>
              <a:tabLst>
                <a:tab pos="152400" algn="l"/>
              </a:tabLst>
            </a:pPr>
            <a:r>
              <a:rPr dirty="0" sz="1000">
                <a:solidFill>
                  <a:srgbClr val="22373A"/>
                </a:solidFill>
                <a:latin typeface="Calibri"/>
                <a:cs typeface="Calibri"/>
                <a:hlinkClick r:id="rId6" action="ppaction://hlinksldjump"/>
              </a:rPr>
              <a:t>Conclusion</a:t>
            </a:r>
            <a:r>
              <a:rPr dirty="0" sz="1000" spc="75">
                <a:solidFill>
                  <a:srgbClr val="22373A"/>
                </a:solid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  <a:hlinkClick r:id="rId6" action="ppaction://hlinksldjump"/>
              </a:rPr>
              <a:t>et</a:t>
            </a:r>
            <a:r>
              <a:rPr dirty="0" sz="1000" spc="75">
                <a:solidFill>
                  <a:srgbClr val="22373A"/>
                </a:solidFill>
                <a:latin typeface="Calibri"/>
                <a:cs typeface="Calibri"/>
                <a:hlinkClick r:id="rId6" action="ppaction://hlinksldjump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  <a:hlinkClick r:id="rId6" action="ppaction://hlinksldjump"/>
              </a:rPr>
              <a:t>Perspectives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13615" y="3020659"/>
            <a:ext cx="7493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endParaRPr sz="700"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5854" y="1312529"/>
            <a:ext cx="267017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85" b="1">
                <a:solidFill>
                  <a:srgbClr val="22373A"/>
                </a:solidFill>
                <a:latin typeface="Calibri"/>
                <a:cs typeface="Calibri"/>
                <a:hlinkClick r:id="rId2" action="ppaction://hlinksldjump"/>
              </a:rPr>
              <a:t>Introduction</a:t>
            </a:r>
            <a:r>
              <a:rPr dirty="0" sz="1400" spc="235" b="1">
                <a:solidFill>
                  <a:srgbClr val="22373A"/>
                </a:solidFill>
                <a:latin typeface="Calibri"/>
                <a:cs typeface="Calibri"/>
                <a:hlinkClick r:id="rId2" action="ppaction://hlinksldjump"/>
              </a:rPr>
              <a:t> </a:t>
            </a:r>
            <a:r>
              <a:rPr dirty="0" sz="1400" spc="70" b="1">
                <a:solidFill>
                  <a:srgbClr val="22373A"/>
                </a:solidFill>
                <a:latin typeface="Calibri"/>
                <a:cs typeface="Calibri"/>
                <a:hlinkClick r:id="rId2" action="ppaction://hlinksldjump"/>
              </a:rPr>
              <a:t>et</a:t>
            </a:r>
            <a:r>
              <a:rPr dirty="0" sz="1400" spc="235" b="1">
                <a:solidFill>
                  <a:srgbClr val="22373A"/>
                </a:solidFill>
                <a:latin typeface="Calibri"/>
                <a:cs typeface="Calibri"/>
                <a:hlinkClick r:id="rId2" action="ppaction://hlinksldjump"/>
              </a:rPr>
              <a:t> </a:t>
            </a:r>
            <a:r>
              <a:rPr dirty="0" sz="1400" spc="75" b="1">
                <a:solidFill>
                  <a:srgbClr val="22373A"/>
                </a:solidFill>
                <a:latin typeface="Calibri"/>
                <a:cs typeface="Calibri"/>
                <a:hlinkClick r:id="rId2" action="ppaction://hlinksldjump"/>
              </a:rPr>
              <a:t>Problématique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488554" y="1682032"/>
            <a:ext cx="2783205" cy="5080"/>
            <a:chOff x="1488554" y="1682032"/>
            <a:chExt cx="2783205" cy="5080"/>
          </a:xfrm>
        </p:grpSpPr>
        <p:sp>
          <p:nvSpPr>
            <p:cNvPr id="4" name="object 4"/>
            <p:cNvSpPr/>
            <p:nvPr/>
          </p:nvSpPr>
          <p:spPr>
            <a:xfrm>
              <a:off x="1488554" y="1682032"/>
              <a:ext cx="2783205" cy="5080"/>
            </a:xfrm>
            <a:custGeom>
              <a:avLst/>
              <a:gdLst/>
              <a:ahLst/>
              <a:cxnLst/>
              <a:rect l="l" t="t" r="r" b="b"/>
              <a:pathLst>
                <a:path w="2783204" h="5080">
                  <a:moveTo>
                    <a:pt x="0" y="5060"/>
                  </a:moveTo>
                  <a:lnTo>
                    <a:pt x="0" y="0"/>
                  </a:lnTo>
                  <a:lnTo>
                    <a:pt x="2782917" y="0"/>
                  </a:lnTo>
                  <a:lnTo>
                    <a:pt x="278291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488554" y="1682032"/>
              <a:ext cx="347980" cy="5080"/>
            </a:xfrm>
            <a:custGeom>
              <a:avLst/>
              <a:gdLst/>
              <a:ahLst/>
              <a:cxnLst/>
              <a:rect l="l" t="t" r="r" b="b"/>
              <a:pathLst>
                <a:path w="347980" h="5080">
                  <a:moveTo>
                    <a:pt x="0" y="5060"/>
                  </a:moveTo>
                  <a:lnTo>
                    <a:pt x="0" y="0"/>
                  </a:lnTo>
                  <a:lnTo>
                    <a:pt x="347864" y="0"/>
                  </a:lnTo>
                  <a:lnTo>
                    <a:pt x="34786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2D7D0A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50"/>
              <a:t>1.1</a:t>
            </a:r>
            <a:r>
              <a:rPr dirty="0" spc="210"/>
              <a:t> </a:t>
            </a:r>
            <a:r>
              <a:rPr dirty="0" spc="55"/>
              <a:t>Contexte</a:t>
            </a:r>
            <a:r>
              <a:rPr dirty="0" spc="215"/>
              <a:t> </a:t>
            </a:r>
            <a:r>
              <a:rPr dirty="0"/>
              <a:t>et</a:t>
            </a:r>
            <a:r>
              <a:rPr dirty="0" spc="215"/>
              <a:t> </a:t>
            </a:r>
            <a:r>
              <a:rPr dirty="0" spc="65"/>
              <a:t>Enjeux</a:t>
            </a:r>
            <a:r>
              <a:rPr dirty="0" spc="210"/>
              <a:t> </a:t>
            </a:r>
            <a:r>
              <a:rPr dirty="0"/>
              <a:t>de</a:t>
            </a:r>
            <a:r>
              <a:rPr dirty="0" spc="215"/>
              <a:t> </a:t>
            </a:r>
            <a:r>
              <a:rPr dirty="0"/>
              <a:t>la</a:t>
            </a:r>
            <a:r>
              <a:rPr dirty="0" spc="215"/>
              <a:t> </a:t>
            </a:r>
            <a:r>
              <a:rPr dirty="0" spc="75"/>
              <a:t>Smart</a:t>
            </a:r>
            <a:r>
              <a:rPr dirty="0" spc="210"/>
              <a:t> </a:t>
            </a:r>
            <a:r>
              <a:rPr dirty="0" spc="60"/>
              <a:t>City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177165">
              <a:lnSpc>
                <a:spcPct val="114599"/>
              </a:lnSpc>
              <a:spcBef>
                <a:spcPts val="100"/>
              </a:spcBef>
            </a:pPr>
            <a:r>
              <a:rPr dirty="0" spc="55"/>
              <a:t>La</a:t>
            </a:r>
            <a:r>
              <a:rPr dirty="0" spc="60"/>
              <a:t> </a:t>
            </a:r>
            <a:r>
              <a:rPr dirty="0"/>
              <a:t>gestion</a:t>
            </a:r>
            <a:r>
              <a:rPr dirty="0" spc="65"/>
              <a:t> </a:t>
            </a:r>
            <a:r>
              <a:rPr dirty="0"/>
              <a:t>urbaine</a:t>
            </a:r>
            <a:r>
              <a:rPr dirty="0" spc="65"/>
              <a:t> </a:t>
            </a:r>
            <a:r>
              <a:rPr dirty="0" spc="-20"/>
              <a:t>moderne</a:t>
            </a:r>
            <a:r>
              <a:rPr dirty="0" spc="65"/>
              <a:t> </a:t>
            </a:r>
            <a:r>
              <a:rPr dirty="0"/>
              <a:t>fait</a:t>
            </a:r>
            <a:r>
              <a:rPr dirty="0" spc="65"/>
              <a:t> </a:t>
            </a:r>
            <a:r>
              <a:rPr dirty="0"/>
              <a:t>face</a:t>
            </a:r>
            <a:r>
              <a:rPr dirty="0" spc="65"/>
              <a:t> </a:t>
            </a:r>
            <a:r>
              <a:rPr dirty="0"/>
              <a:t>à</a:t>
            </a:r>
            <a:r>
              <a:rPr dirty="0" spc="65"/>
              <a:t> </a:t>
            </a:r>
            <a:r>
              <a:rPr dirty="0"/>
              <a:t>un</a:t>
            </a:r>
            <a:r>
              <a:rPr dirty="0" spc="60"/>
              <a:t> </a:t>
            </a:r>
            <a:r>
              <a:rPr dirty="0"/>
              <a:t>défi</a:t>
            </a:r>
            <a:r>
              <a:rPr dirty="0" spc="65"/>
              <a:t> </a:t>
            </a:r>
            <a:r>
              <a:rPr dirty="0"/>
              <a:t>logistique</a:t>
            </a:r>
            <a:r>
              <a:rPr dirty="0" spc="65"/>
              <a:t> </a:t>
            </a:r>
            <a:r>
              <a:rPr dirty="0"/>
              <a:t>majeur</a:t>
            </a:r>
            <a:r>
              <a:rPr dirty="0" spc="65"/>
              <a:t> </a:t>
            </a:r>
            <a:r>
              <a:rPr dirty="0"/>
              <a:t>concernant</a:t>
            </a:r>
            <a:r>
              <a:rPr dirty="0" spc="65"/>
              <a:t> </a:t>
            </a:r>
            <a:r>
              <a:rPr dirty="0"/>
              <a:t>la</a:t>
            </a:r>
            <a:r>
              <a:rPr dirty="0" spc="65"/>
              <a:t> </a:t>
            </a:r>
            <a:r>
              <a:rPr dirty="0"/>
              <a:t>collecte</a:t>
            </a:r>
            <a:r>
              <a:rPr dirty="0" spc="65"/>
              <a:t> </a:t>
            </a:r>
            <a:r>
              <a:rPr dirty="0" spc="-25"/>
              <a:t>des</a:t>
            </a:r>
            <a:r>
              <a:rPr dirty="0" spc="-10"/>
              <a:t> déchets.</a:t>
            </a:r>
            <a:r>
              <a:rPr dirty="0" spc="65"/>
              <a:t> </a:t>
            </a:r>
            <a:r>
              <a:rPr dirty="0"/>
              <a:t>Les</a:t>
            </a:r>
            <a:r>
              <a:rPr dirty="0" spc="65"/>
              <a:t> </a:t>
            </a:r>
            <a:r>
              <a:rPr dirty="0" spc="-10"/>
              <a:t>méthodes</a:t>
            </a:r>
            <a:r>
              <a:rPr dirty="0" spc="65"/>
              <a:t> </a:t>
            </a:r>
            <a:r>
              <a:rPr dirty="0" spc="-10"/>
              <a:t>traditionnelles</a:t>
            </a:r>
            <a:r>
              <a:rPr dirty="0" spc="70"/>
              <a:t> </a:t>
            </a:r>
            <a:r>
              <a:rPr dirty="0" spc="-20"/>
              <a:t>présentent</a:t>
            </a:r>
            <a:r>
              <a:rPr dirty="0" spc="65"/>
              <a:t> </a:t>
            </a:r>
            <a:r>
              <a:rPr dirty="0"/>
              <a:t>des</a:t>
            </a:r>
            <a:r>
              <a:rPr dirty="0" spc="65"/>
              <a:t> </a:t>
            </a:r>
            <a:r>
              <a:rPr dirty="0"/>
              <a:t>failles</a:t>
            </a:r>
            <a:r>
              <a:rPr dirty="0" spc="65"/>
              <a:t> </a:t>
            </a:r>
            <a:r>
              <a:rPr dirty="0"/>
              <a:t>critiques</a:t>
            </a:r>
            <a:r>
              <a:rPr dirty="0" spc="70"/>
              <a:t> </a:t>
            </a:r>
            <a:r>
              <a:rPr dirty="0" spc="-50"/>
              <a:t>:</a:t>
            </a:r>
          </a:p>
          <a:p>
            <a:pPr marL="264160" marR="5080" indent="-125730">
              <a:lnSpc>
                <a:spcPct val="114599"/>
              </a:lnSpc>
              <a:spcBef>
                <a:spcPts val="795"/>
              </a:spcBef>
              <a:buFont typeface="Calibri"/>
              <a:buChar char="•"/>
              <a:tabLst>
                <a:tab pos="265430" algn="l"/>
              </a:tabLst>
            </a:pPr>
            <a:r>
              <a:rPr dirty="0" b="1">
                <a:latin typeface="Calibri"/>
                <a:cs typeface="Calibri"/>
              </a:rPr>
              <a:t>Inéfficacité</a:t>
            </a:r>
            <a:r>
              <a:rPr dirty="0" spc="14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Opérationnelle</a:t>
            </a:r>
            <a:r>
              <a:rPr dirty="0" spc="15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:</a:t>
            </a:r>
            <a:r>
              <a:rPr dirty="0" spc="120" b="1">
                <a:latin typeface="Calibri"/>
                <a:cs typeface="Calibri"/>
              </a:rPr>
              <a:t> </a:t>
            </a:r>
            <a:r>
              <a:rPr dirty="0"/>
              <a:t>Les</a:t>
            </a:r>
            <a:r>
              <a:rPr dirty="0" spc="120"/>
              <a:t> </a:t>
            </a:r>
            <a:r>
              <a:rPr dirty="0" spc="-10"/>
              <a:t>tournées</a:t>
            </a:r>
            <a:r>
              <a:rPr dirty="0" spc="120"/>
              <a:t> </a:t>
            </a:r>
            <a:r>
              <a:rPr dirty="0"/>
              <a:t>de</a:t>
            </a:r>
            <a:r>
              <a:rPr dirty="0" spc="114"/>
              <a:t> </a:t>
            </a:r>
            <a:r>
              <a:rPr dirty="0"/>
              <a:t>collecte</a:t>
            </a:r>
            <a:r>
              <a:rPr dirty="0" spc="120"/>
              <a:t> </a:t>
            </a:r>
            <a:r>
              <a:rPr dirty="0"/>
              <a:t>fixes</a:t>
            </a:r>
            <a:r>
              <a:rPr dirty="0" spc="120"/>
              <a:t> </a:t>
            </a:r>
            <a:r>
              <a:rPr dirty="0"/>
              <a:t>ignorent</a:t>
            </a:r>
            <a:r>
              <a:rPr dirty="0" spc="114"/>
              <a:t> </a:t>
            </a:r>
            <a:r>
              <a:rPr dirty="0"/>
              <a:t>l’état</a:t>
            </a:r>
            <a:r>
              <a:rPr dirty="0" spc="120"/>
              <a:t> </a:t>
            </a:r>
            <a:r>
              <a:rPr dirty="0" spc="-10"/>
              <a:t>réel</a:t>
            </a:r>
            <a:r>
              <a:rPr dirty="0" spc="120"/>
              <a:t> </a:t>
            </a:r>
            <a:r>
              <a:rPr dirty="0"/>
              <a:t>des</a:t>
            </a:r>
            <a:r>
              <a:rPr dirty="0" spc="120"/>
              <a:t> </a:t>
            </a:r>
            <a:r>
              <a:rPr dirty="0" spc="-10"/>
              <a:t>bacs, </a:t>
            </a:r>
            <a:r>
              <a:rPr dirty="0" spc="-10"/>
              <a:t>	</a:t>
            </a:r>
            <a:r>
              <a:rPr dirty="0"/>
              <a:t>entraînant</a:t>
            </a:r>
            <a:r>
              <a:rPr dirty="0" spc="45"/>
              <a:t> </a:t>
            </a:r>
            <a:r>
              <a:rPr dirty="0"/>
              <a:t>des</a:t>
            </a:r>
            <a:r>
              <a:rPr dirty="0" spc="50"/>
              <a:t> </a:t>
            </a:r>
            <a:r>
              <a:rPr dirty="0" spc="-10"/>
              <a:t>déplacements</a:t>
            </a:r>
            <a:r>
              <a:rPr dirty="0" spc="45"/>
              <a:t> </a:t>
            </a:r>
            <a:r>
              <a:rPr dirty="0"/>
              <a:t>inutiles</a:t>
            </a:r>
            <a:r>
              <a:rPr dirty="0" spc="50"/>
              <a:t> </a:t>
            </a:r>
            <a:r>
              <a:rPr dirty="0"/>
              <a:t>vers</a:t>
            </a:r>
            <a:r>
              <a:rPr dirty="0" spc="50"/>
              <a:t> </a:t>
            </a:r>
            <a:r>
              <a:rPr dirty="0"/>
              <a:t>des</a:t>
            </a:r>
            <a:r>
              <a:rPr dirty="0" spc="45"/>
              <a:t> </a:t>
            </a:r>
            <a:r>
              <a:rPr dirty="0" spc="-10"/>
              <a:t>poubelles</a:t>
            </a:r>
            <a:r>
              <a:rPr dirty="0" spc="50"/>
              <a:t> </a:t>
            </a:r>
            <a:r>
              <a:rPr dirty="0" spc="-10"/>
              <a:t>vides.</a:t>
            </a:r>
          </a:p>
          <a:p>
            <a:pPr marL="264160" marR="159385" indent="-125730">
              <a:lnSpc>
                <a:spcPct val="114599"/>
              </a:lnSpc>
              <a:spcBef>
                <a:spcPts val="300"/>
              </a:spcBef>
              <a:buFont typeface="Calibri"/>
              <a:buChar char="•"/>
              <a:tabLst>
                <a:tab pos="265430" algn="l"/>
              </a:tabLst>
            </a:pPr>
            <a:r>
              <a:rPr dirty="0" b="1">
                <a:latin typeface="Calibri"/>
                <a:cs typeface="Calibri"/>
              </a:rPr>
              <a:t>Nuisances</a:t>
            </a:r>
            <a:r>
              <a:rPr dirty="0" spc="16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Sanitaires</a:t>
            </a:r>
            <a:r>
              <a:rPr dirty="0" spc="16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:</a:t>
            </a:r>
            <a:r>
              <a:rPr dirty="0" spc="135" b="1">
                <a:latin typeface="Calibri"/>
                <a:cs typeface="Calibri"/>
              </a:rPr>
              <a:t> </a:t>
            </a:r>
            <a:r>
              <a:rPr dirty="0"/>
              <a:t>Les</a:t>
            </a:r>
            <a:r>
              <a:rPr dirty="0" spc="135"/>
              <a:t> </a:t>
            </a:r>
            <a:r>
              <a:rPr dirty="0" spc="-25"/>
              <a:t>débordements</a:t>
            </a:r>
            <a:r>
              <a:rPr dirty="0" spc="135"/>
              <a:t> </a:t>
            </a:r>
            <a:r>
              <a:rPr dirty="0" spc="-10"/>
              <a:t>favorisent</a:t>
            </a:r>
            <a:r>
              <a:rPr dirty="0" spc="135"/>
              <a:t> </a:t>
            </a:r>
            <a:r>
              <a:rPr dirty="0"/>
              <a:t>la</a:t>
            </a:r>
            <a:r>
              <a:rPr dirty="0" spc="135"/>
              <a:t> </a:t>
            </a:r>
            <a:r>
              <a:rPr dirty="0" spc="-10"/>
              <a:t>prolifération</a:t>
            </a:r>
            <a:r>
              <a:rPr dirty="0" spc="135"/>
              <a:t> </a:t>
            </a:r>
            <a:r>
              <a:rPr dirty="0"/>
              <a:t>de</a:t>
            </a:r>
            <a:r>
              <a:rPr dirty="0" spc="135"/>
              <a:t> </a:t>
            </a:r>
            <a:r>
              <a:rPr dirty="0"/>
              <a:t>bactéries</a:t>
            </a:r>
            <a:r>
              <a:rPr dirty="0" spc="135"/>
              <a:t> </a:t>
            </a:r>
            <a:r>
              <a:rPr dirty="0"/>
              <a:t>et</a:t>
            </a:r>
            <a:r>
              <a:rPr dirty="0" spc="130"/>
              <a:t> </a:t>
            </a:r>
            <a:r>
              <a:rPr dirty="0" spc="-25"/>
              <a:t>la</a:t>
            </a:r>
            <a:r>
              <a:rPr dirty="0" spc="-10"/>
              <a:t> 	dispersion</a:t>
            </a:r>
            <a:r>
              <a:rPr dirty="0" spc="35"/>
              <a:t> </a:t>
            </a:r>
            <a:r>
              <a:rPr dirty="0"/>
              <a:t>d’odeurs</a:t>
            </a:r>
            <a:r>
              <a:rPr dirty="0" spc="40"/>
              <a:t> </a:t>
            </a:r>
            <a:r>
              <a:rPr dirty="0"/>
              <a:t>dans</a:t>
            </a:r>
            <a:r>
              <a:rPr dirty="0" spc="35"/>
              <a:t> </a:t>
            </a:r>
            <a:r>
              <a:rPr dirty="0"/>
              <a:t>l’espace</a:t>
            </a:r>
            <a:r>
              <a:rPr dirty="0" spc="40"/>
              <a:t> </a:t>
            </a:r>
            <a:r>
              <a:rPr dirty="0" spc="-10"/>
              <a:t>public.</a:t>
            </a:r>
          </a:p>
          <a:p>
            <a:pPr marL="264160" marR="139065" indent="-125730">
              <a:lnSpc>
                <a:spcPct val="114599"/>
              </a:lnSpc>
              <a:spcBef>
                <a:spcPts val="300"/>
              </a:spcBef>
              <a:buFont typeface="Calibri"/>
              <a:buChar char="•"/>
              <a:tabLst>
                <a:tab pos="265430" algn="l"/>
              </a:tabLst>
            </a:pPr>
            <a:r>
              <a:rPr dirty="0" b="1">
                <a:latin typeface="Calibri"/>
                <a:cs typeface="Calibri"/>
              </a:rPr>
              <a:t>Problématique</a:t>
            </a:r>
            <a:r>
              <a:rPr dirty="0" spc="19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Animale</a:t>
            </a:r>
            <a:r>
              <a:rPr dirty="0" spc="19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:</a:t>
            </a:r>
            <a:r>
              <a:rPr dirty="0" spc="160" b="1">
                <a:latin typeface="Calibri"/>
                <a:cs typeface="Calibri"/>
              </a:rPr>
              <a:t> </a:t>
            </a:r>
            <a:r>
              <a:rPr dirty="0"/>
              <a:t>Les</a:t>
            </a:r>
            <a:r>
              <a:rPr dirty="0" spc="160"/>
              <a:t> </a:t>
            </a:r>
            <a:r>
              <a:rPr dirty="0"/>
              <a:t>animaux</a:t>
            </a:r>
            <a:r>
              <a:rPr dirty="0" spc="165"/>
              <a:t> </a:t>
            </a:r>
            <a:r>
              <a:rPr dirty="0"/>
              <a:t>errants</a:t>
            </a:r>
            <a:r>
              <a:rPr dirty="0" spc="160"/>
              <a:t> </a:t>
            </a:r>
            <a:r>
              <a:rPr dirty="0"/>
              <a:t>(chats,</a:t>
            </a:r>
            <a:r>
              <a:rPr dirty="0" spc="160"/>
              <a:t> </a:t>
            </a:r>
            <a:r>
              <a:rPr dirty="0"/>
              <a:t>chiens,</a:t>
            </a:r>
            <a:r>
              <a:rPr dirty="0" spc="160"/>
              <a:t> </a:t>
            </a:r>
            <a:r>
              <a:rPr dirty="0"/>
              <a:t>oiseaux)</a:t>
            </a:r>
            <a:r>
              <a:rPr dirty="0" spc="160"/>
              <a:t> </a:t>
            </a:r>
            <a:r>
              <a:rPr dirty="0" spc="-20"/>
              <a:t>renversent</a:t>
            </a:r>
            <a:r>
              <a:rPr dirty="0" spc="165"/>
              <a:t> </a:t>
            </a:r>
            <a:r>
              <a:rPr dirty="0" spc="-25"/>
              <a:t>les</a:t>
            </a:r>
            <a:r>
              <a:rPr dirty="0"/>
              <a:t> 	bacs</a:t>
            </a:r>
            <a:r>
              <a:rPr dirty="0" spc="65"/>
              <a:t> </a:t>
            </a:r>
            <a:r>
              <a:rPr dirty="0"/>
              <a:t>ou</a:t>
            </a:r>
            <a:r>
              <a:rPr dirty="0" spc="70"/>
              <a:t> </a:t>
            </a:r>
            <a:r>
              <a:rPr dirty="0" spc="-10"/>
              <a:t>éventrent</a:t>
            </a:r>
            <a:r>
              <a:rPr dirty="0" spc="70"/>
              <a:t> </a:t>
            </a:r>
            <a:r>
              <a:rPr dirty="0"/>
              <a:t>les</a:t>
            </a:r>
            <a:r>
              <a:rPr dirty="0" spc="65"/>
              <a:t> </a:t>
            </a:r>
            <a:r>
              <a:rPr dirty="0"/>
              <a:t>sacs,</a:t>
            </a:r>
            <a:r>
              <a:rPr dirty="0" spc="70"/>
              <a:t> </a:t>
            </a:r>
            <a:r>
              <a:rPr dirty="0"/>
              <a:t>multipliant</a:t>
            </a:r>
            <a:r>
              <a:rPr dirty="0" spc="70"/>
              <a:t> </a:t>
            </a:r>
            <a:r>
              <a:rPr dirty="0"/>
              <a:t>les</a:t>
            </a:r>
            <a:r>
              <a:rPr dirty="0" spc="65"/>
              <a:t> </a:t>
            </a:r>
            <a:r>
              <a:rPr dirty="0"/>
              <a:t>coûts</a:t>
            </a:r>
            <a:r>
              <a:rPr dirty="0" spc="70"/>
              <a:t> </a:t>
            </a:r>
            <a:r>
              <a:rPr dirty="0"/>
              <a:t>de</a:t>
            </a:r>
            <a:r>
              <a:rPr dirty="0" spc="70"/>
              <a:t> </a:t>
            </a:r>
            <a:r>
              <a:rPr dirty="0" spc="-10"/>
              <a:t>nettoyage</a:t>
            </a:r>
            <a:r>
              <a:rPr dirty="0" spc="70"/>
              <a:t> </a:t>
            </a:r>
            <a:r>
              <a:rPr dirty="0" spc="-10"/>
              <a:t>manuel.</a:t>
            </a:r>
          </a:p>
          <a:p>
            <a:pPr marL="12700" marR="60325">
              <a:lnSpc>
                <a:spcPct val="114599"/>
              </a:lnSpc>
              <a:spcBef>
                <a:spcPts val="795"/>
              </a:spcBef>
            </a:pPr>
            <a:r>
              <a:rPr dirty="0" i="1">
                <a:latin typeface="Calibri"/>
                <a:cs typeface="Calibri"/>
              </a:rPr>
              <a:t>L’objectif</a:t>
            </a:r>
            <a:r>
              <a:rPr dirty="0" spc="105" i="1">
                <a:latin typeface="Calibri"/>
                <a:cs typeface="Calibri"/>
              </a:rPr>
              <a:t> </a:t>
            </a:r>
            <a:r>
              <a:rPr dirty="0" i="1">
                <a:latin typeface="Calibri"/>
                <a:cs typeface="Calibri"/>
              </a:rPr>
              <a:t>de</a:t>
            </a:r>
            <a:r>
              <a:rPr dirty="0" spc="105" i="1">
                <a:latin typeface="Calibri"/>
                <a:cs typeface="Calibri"/>
              </a:rPr>
              <a:t> </a:t>
            </a:r>
            <a:r>
              <a:rPr dirty="0" i="1">
                <a:latin typeface="Calibri"/>
                <a:cs typeface="Calibri"/>
              </a:rPr>
              <a:t>TrashTracker</a:t>
            </a:r>
            <a:r>
              <a:rPr dirty="0" spc="105" i="1">
                <a:latin typeface="Calibri"/>
                <a:cs typeface="Calibri"/>
              </a:rPr>
              <a:t> </a:t>
            </a:r>
            <a:r>
              <a:rPr dirty="0" i="1">
                <a:latin typeface="Calibri"/>
                <a:cs typeface="Calibri"/>
              </a:rPr>
              <a:t>est</a:t>
            </a:r>
            <a:r>
              <a:rPr dirty="0" spc="105" i="1">
                <a:latin typeface="Calibri"/>
                <a:cs typeface="Calibri"/>
              </a:rPr>
              <a:t> </a:t>
            </a:r>
            <a:r>
              <a:rPr dirty="0" i="1">
                <a:latin typeface="Calibri"/>
                <a:cs typeface="Calibri"/>
              </a:rPr>
              <a:t>d’apporter</a:t>
            </a:r>
            <a:r>
              <a:rPr dirty="0" spc="110" i="1">
                <a:latin typeface="Calibri"/>
                <a:cs typeface="Calibri"/>
              </a:rPr>
              <a:t> </a:t>
            </a:r>
            <a:r>
              <a:rPr dirty="0" i="1">
                <a:latin typeface="Calibri"/>
                <a:cs typeface="Calibri"/>
              </a:rPr>
              <a:t>une</a:t>
            </a:r>
            <a:r>
              <a:rPr dirty="0" spc="105" i="1">
                <a:latin typeface="Calibri"/>
                <a:cs typeface="Calibri"/>
              </a:rPr>
              <a:t> </a:t>
            </a:r>
            <a:r>
              <a:rPr dirty="0" i="1">
                <a:latin typeface="Calibri"/>
                <a:cs typeface="Calibri"/>
              </a:rPr>
              <a:t>intelligence</a:t>
            </a:r>
            <a:r>
              <a:rPr dirty="0" spc="105" i="1">
                <a:latin typeface="Calibri"/>
                <a:cs typeface="Calibri"/>
              </a:rPr>
              <a:t> </a:t>
            </a:r>
            <a:r>
              <a:rPr dirty="0" i="1">
                <a:latin typeface="Calibri"/>
                <a:cs typeface="Calibri"/>
              </a:rPr>
              <a:t>décisionnelle</a:t>
            </a:r>
            <a:r>
              <a:rPr dirty="0" spc="105" i="1">
                <a:latin typeface="Calibri"/>
                <a:cs typeface="Calibri"/>
              </a:rPr>
              <a:t> </a:t>
            </a:r>
            <a:r>
              <a:rPr dirty="0" i="1">
                <a:latin typeface="Calibri"/>
                <a:cs typeface="Calibri"/>
              </a:rPr>
              <a:t>aux</a:t>
            </a:r>
            <a:r>
              <a:rPr dirty="0" spc="110" i="1">
                <a:latin typeface="Calibri"/>
                <a:cs typeface="Calibri"/>
              </a:rPr>
              <a:t> </a:t>
            </a:r>
            <a:r>
              <a:rPr dirty="0" i="1">
                <a:latin typeface="Calibri"/>
                <a:cs typeface="Calibri"/>
              </a:rPr>
              <a:t>points</a:t>
            </a:r>
            <a:r>
              <a:rPr dirty="0" spc="105" i="1">
                <a:latin typeface="Calibri"/>
                <a:cs typeface="Calibri"/>
              </a:rPr>
              <a:t> </a:t>
            </a:r>
            <a:r>
              <a:rPr dirty="0" i="1">
                <a:latin typeface="Calibri"/>
                <a:cs typeface="Calibri"/>
              </a:rPr>
              <a:t>de</a:t>
            </a:r>
            <a:r>
              <a:rPr dirty="0" spc="105" i="1">
                <a:latin typeface="Calibri"/>
                <a:cs typeface="Calibri"/>
              </a:rPr>
              <a:t> </a:t>
            </a:r>
            <a:r>
              <a:rPr dirty="0" spc="-10" i="1">
                <a:latin typeface="Calibri"/>
                <a:cs typeface="Calibri"/>
              </a:rPr>
              <a:t>collecte</a:t>
            </a:r>
            <a:r>
              <a:rPr dirty="0" spc="-10" i="1">
                <a:latin typeface="Calibri"/>
                <a:cs typeface="Calibri"/>
              </a:rPr>
              <a:t> </a:t>
            </a:r>
            <a:r>
              <a:rPr dirty="0" i="1">
                <a:latin typeface="Calibri"/>
                <a:cs typeface="Calibri"/>
              </a:rPr>
              <a:t>grâce</a:t>
            </a:r>
            <a:r>
              <a:rPr dirty="0" spc="105" i="1">
                <a:latin typeface="Calibri"/>
                <a:cs typeface="Calibri"/>
              </a:rPr>
              <a:t> </a:t>
            </a:r>
            <a:r>
              <a:rPr dirty="0" i="1">
                <a:latin typeface="Calibri"/>
                <a:cs typeface="Calibri"/>
              </a:rPr>
              <a:t>à</a:t>
            </a:r>
            <a:r>
              <a:rPr dirty="0" spc="105" i="1">
                <a:latin typeface="Calibri"/>
                <a:cs typeface="Calibri"/>
              </a:rPr>
              <a:t> </a:t>
            </a:r>
            <a:r>
              <a:rPr dirty="0" i="1">
                <a:latin typeface="Calibri"/>
                <a:cs typeface="Calibri"/>
              </a:rPr>
              <a:t>l’IoT</a:t>
            </a:r>
            <a:r>
              <a:rPr dirty="0" spc="105" i="1">
                <a:latin typeface="Calibri"/>
                <a:cs typeface="Calibri"/>
              </a:rPr>
              <a:t> </a:t>
            </a:r>
            <a:r>
              <a:rPr dirty="0" i="1">
                <a:latin typeface="Calibri"/>
                <a:cs typeface="Calibri"/>
              </a:rPr>
              <a:t>et</a:t>
            </a:r>
            <a:r>
              <a:rPr dirty="0" spc="105" i="1">
                <a:latin typeface="Calibri"/>
                <a:cs typeface="Calibri"/>
              </a:rPr>
              <a:t> </a:t>
            </a:r>
            <a:r>
              <a:rPr dirty="0" i="1">
                <a:latin typeface="Calibri"/>
                <a:cs typeface="Calibri"/>
              </a:rPr>
              <a:t>la</a:t>
            </a:r>
            <a:r>
              <a:rPr dirty="0" spc="105" i="1">
                <a:latin typeface="Calibri"/>
                <a:cs typeface="Calibri"/>
              </a:rPr>
              <a:t> </a:t>
            </a:r>
            <a:r>
              <a:rPr dirty="0" i="1">
                <a:latin typeface="Calibri"/>
                <a:cs typeface="Calibri"/>
              </a:rPr>
              <a:t>vision</a:t>
            </a:r>
            <a:r>
              <a:rPr dirty="0" spc="105" i="1">
                <a:latin typeface="Calibri"/>
                <a:cs typeface="Calibri"/>
              </a:rPr>
              <a:t> </a:t>
            </a:r>
            <a:r>
              <a:rPr dirty="0" i="1">
                <a:latin typeface="Calibri"/>
                <a:cs typeface="Calibri"/>
              </a:rPr>
              <a:t>par</a:t>
            </a:r>
            <a:r>
              <a:rPr dirty="0" spc="105" i="1">
                <a:latin typeface="Calibri"/>
                <a:cs typeface="Calibri"/>
              </a:rPr>
              <a:t> </a:t>
            </a:r>
            <a:r>
              <a:rPr dirty="0" spc="-10" i="1">
                <a:latin typeface="Calibri"/>
                <a:cs typeface="Calibri"/>
              </a:rPr>
              <a:t>ordinateur.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613615" y="3020659"/>
            <a:ext cx="7493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solidFill>
                  <a:srgbClr val="22373A"/>
                </a:solidFill>
                <a:latin typeface="Calibri"/>
                <a:cs typeface="Calibri"/>
              </a:rPr>
              <a:t>2</a:t>
            </a:r>
            <a:endParaRPr sz="700"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5854" y="1312529"/>
            <a:ext cx="233045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90" b="1">
                <a:solidFill>
                  <a:srgbClr val="22373A"/>
                </a:solidFill>
                <a:latin typeface="Calibri"/>
                <a:cs typeface="Calibri"/>
                <a:hlinkClick r:id="rId2" action="ppaction://hlinksldjump"/>
              </a:rPr>
              <a:t>Architecture</a:t>
            </a:r>
            <a:r>
              <a:rPr dirty="0" sz="1400" spc="240" b="1">
                <a:solidFill>
                  <a:srgbClr val="22373A"/>
                </a:solidFill>
                <a:latin typeface="Calibri"/>
                <a:cs typeface="Calibri"/>
                <a:hlinkClick r:id="rId2" action="ppaction://hlinksldjump"/>
              </a:rPr>
              <a:t> </a:t>
            </a:r>
            <a:r>
              <a:rPr dirty="0" sz="1400" spc="70" b="1">
                <a:solidFill>
                  <a:srgbClr val="22373A"/>
                </a:solidFill>
                <a:latin typeface="Calibri"/>
                <a:cs typeface="Calibri"/>
                <a:hlinkClick r:id="rId2" action="ppaction://hlinksldjump"/>
              </a:rPr>
              <a:t>et</a:t>
            </a:r>
            <a:r>
              <a:rPr dirty="0" sz="1400" spc="240" b="1">
                <a:solidFill>
                  <a:srgbClr val="22373A"/>
                </a:solidFill>
                <a:latin typeface="Calibri"/>
                <a:cs typeface="Calibri"/>
                <a:hlinkClick r:id="rId2" action="ppaction://hlinksldjump"/>
              </a:rPr>
              <a:t> </a:t>
            </a:r>
            <a:r>
              <a:rPr dirty="0" sz="1400" spc="90" b="1">
                <a:solidFill>
                  <a:srgbClr val="22373A"/>
                </a:solidFill>
                <a:latin typeface="Calibri"/>
                <a:cs typeface="Calibri"/>
                <a:hlinkClick r:id="rId2" action="ppaction://hlinksldjump"/>
              </a:rPr>
              <a:t>Protocoles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488554" y="1682032"/>
            <a:ext cx="2783205" cy="5080"/>
            <a:chOff x="1488554" y="1682032"/>
            <a:chExt cx="2783205" cy="5080"/>
          </a:xfrm>
        </p:grpSpPr>
        <p:sp>
          <p:nvSpPr>
            <p:cNvPr id="4" name="object 4"/>
            <p:cNvSpPr/>
            <p:nvPr/>
          </p:nvSpPr>
          <p:spPr>
            <a:xfrm>
              <a:off x="1488554" y="1682032"/>
              <a:ext cx="2783205" cy="5080"/>
            </a:xfrm>
            <a:custGeom>
              <a:avLst/>
              <a:gdLst/>
              <a:ahLst/>
              <a:cxnLst/>
              <a:rect l="l" t="t" r="r" b="b"/>
              <a:pathLst>
                <a:path w="2783204" h="5080">
                  <a:moveTo>
                    <a:pt x="0" y="5060"/>
                  </a:moveTo>
                  <a:lnTo>
                    <a:pt x="0" y="0"/>
                  </a:lnTo>
                  <a:lnTo>
                    <a:pt x="2782917" y="0"/>
                  </a:lnTo>
                  <a:lnTo>
                    <a:pt x="278291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488554" y="1682032"/>
              <a:ext cx="695960" cy="5080"/>
            </a:xfrm>
            <a:custGeom>
              <a:avLst/>
              <a:gdLst/>
              <a:ahLst/>
              <a:cxnLst/>
              <a:rect l="l" t="t" r="r" b="b"/>
              <a:pathLst>
                <a:path w="695960" h="5080">
                  <a:moveTo>
                    <a:pt x="0" y="5060"/>
                  </a:moveTo>
                  <a:lnTo>
                    <a:pt x="0" y="0"/>
                  </a:lnTo>
                  <a:lnTo>
                    <a:pt x="695729" y="0"/>
                  </a:lnTo>
                  <a:lnTo>
                    <a:pt x="69572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2D7D0A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50"/>
              <a:t>2.1</a:t>
            </a:r>
            <a:r>
              <a:rPr dirty="0" spc="215"/>
              <a:t> </a:t>
            </a:r>
            <a:r>
              <a:rPr dirty="0" spc="50"/>
              <a:t>Architecture</a:t>
            </a:r>
            <a:r>
              <a:rPr dirty="0" spc="215"/>
              <a:t> </a:t>
            </a:r>
            <a:r>
              <a:rPr dirty="0"/>
              <a:t>du</a:t>
            </a:r>
            <a:r>
              <a:rPr dirty="0" spc="215"/>
              <a:t> </a:t>
            </a:r>
            <a:r>
              <a:rPr dirty="0" spc="60"/>
              <a:t>Système</a:t>
            </a:r>
            <a:r>
              <a:rPr dirty="0" spc="210"/>
              <a:t> </a:t>
            </a:r>
            <a:r>
              <a:rPr dirty="0"/>
              <a:t>et</a:t>
            </a:r>
            <a:r>
              <a:rPr dirty="0" spc="215"/>
              <a:t> </a:t>
            </a:r>
            <a:r>
              <a:rPr dirty="0" spc="80"/>
              <a:t>Flux</a:t>
            </a:r>
            <a:r>
              <a:rPr dirty="0" spc="215"/>
              <a:t> </a:t>
            </a:r>
            <a:r>
              <a:rPr dirty="0"/>
              <a:t>de</a:t>
            </a:r>
            <a:r>
              <a:rPr dirty="0" spc="215"/>
              <a:t> </a:t>
            </a:r>
            <a:r>
              <a:rPr dirty="0" spc="40"/>
              <a:t>Données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283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Le</a:t>
            </a:r>
            <a:r>
              <a:rPr dirty="0" spc="60"/>
              <a:t> </a:t>
            </a:r>
            <a:r>
              <a:rPr dirty="0"/>
              <a:t>projet</a:t>
            </a:r>
            <a:r>
              <a:rPr dirty="0" spc="65"/>
              <a:t> </a:t>
            </a:r>
            <a:r>
              <a:rPr dirty="0" spc="-10"/>
              <a:t>repose</a:t>
            </a:r>
            <a:r>
              <a:rPr dirty="0" spc="65"/>
              <a:t> </a:t>
            </a:r>
            <a:r>
              <a:rPr dirty="0"/>
              <a:t>sur</a:t>
            </a:r>
            <a:r>
              <a:rPr dirty="0" spc="60"/>
              <a:t> </a:t>
            </a:r>
            <a:r>
              <a:rPr dirty="0"/>
              <a:t>un</a:t>
            </a:r>
            <a:r>
              <a:rPr dirty="0" spc="65"/>
              <a:t> </a:t>
            </a:r>
            <a:r>
              <a:rPr dirty="0" spc="-10"/>
              <a:t>découplage</a:t>
            </a:r>
            <a:r>
              <a:rPr dirty="0" spc="65"/>
              <a:t> </a:t>
            </a:r>
            <a:r>
              <a:rPr dirty="0"/>
              <a:t>logiciel</a:t>
            </a:r>
            <a:r>
              <a:rPr dirty="0" spc="65"/>
              <a:t> </a:t>
            </a:r>
            <a:r>
              <a:rPr dirty="0"/>
              <a:t>et</a:t>
            </a:r>
            <a:r>
              <a:rPr dirty="0" spc="60"/>
              <a:t> </a:t>
            </a:r>
            <a:r>
              <a:rPr dirty="0" spc="-10"/>
              <a:t>matériel</a:t>
            </a:r>
            <a:r>
              <a:rPr dirty="0" spc="65"/>
              <a:t> </a:t>
            </a:r>
            <a:r>
              <a:rPr dirty="0"/>
              <a:t>pour</a:t>
            </a:r>
            <a:r>
              <a:rPr dirty="0" spc="65"/>
              <a:t> </a:t>
            </a:r>
            <a:r>
              <a:rPr dirty="0"/>
              <a:t>garantir</a:t>
            </a:r>
            <a:r>
              <a:rPr dirty="0" spc="65"/>
              <a:t> </a:t>
            </a:r>
            <a:r>
              <a:rPr dirty="0"/>
              <a:t>la</a:t>
            </a:r>
            <a:r>
              <a:rPr dirty="0" spc="60"/>
              <a:t> </a:t>
            </a:r>
            <a:r>
              <a:rPr dirty="0" spc="-10"/>
              <a:t>robustesse</a:t>
            </a:r>
            <a:r>
              <a:rPr dirty="0" spc="65"/>
              <a:t> </a:t>
            </a:r>
            <a:r>
              <a:rPr dirty="0" spc="-50"/>
              <a:t>:</a:t>
            </a:r>
          </a:p>
          <a:p>
            <a:pPr marL="264160" marR="5080" indent="-160655">
              <a:lnSpc>
                <a:spcPct val="114599"/>
              </a:lnSpc>
              <a:spcBef>
                <a:spcPts val="795"/>
              </a:spcBef>
              <a:buFont typeface="Calibri"/>
              <a:buAutoNum type="arabicPeriod"/>
              <a:tabLst>
                <a:tab pos="265430" algn="l"/>
              </a:tabLst>
            </a:pPr>
            <a:r>
              <a:rPr dirty="0" b="1">
                <a:latin typeface="Calibri"/>
                <a:cs typeface="Calibri"/>
              </a:rPr>
              <a:t>Capteur</a:t>
            </a:r>
            <a:r>
              <a:rPr dirty="0" spc="17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Intelligent</a:t>
            </a:r>
            <a:r>
              <a:rPr dirty="0" spc="175" b="1">
                <a:latin typeface="Calibri"/>
                <a:cs typeface="Calibri"/>
              </a:rPr>
              <a:t> </a:t>
            </a:r>
            <a:r>
              <a:rPr dirty="0" spc="70" b="1">
                <a:latin typeface="Calibri"/>
                <a:cs typeface="Calibri"/>
              </a:rPr>
              <a:t>(Python/OpenCV)</a:t>
            </a:r>
            <a:r>
              <a:rPr dirty="0" spc="18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:</a:t>
            </a:r>
            <a:r>
              <a:rPr dirty="0" spc="140" b="1">
                <a:latin typeface="Calibri"/>
                <a:cs typeface="Calibri"/>
              </a:rPr>
              <a:t> </a:t>
            </a:r>
            <a:r>
              <a:rPr dirty="0"/>
              <a:t>Une</a:t>
            </a:r>
            <a:r>
              <a:rPr dirty="0" spc="145"/>
              <a:t> </a:t>
            </a:r>
            <a:r>
              <a:rPr dirty="0"/>
              <a:t>caméra</a:t>
            </a:r>
            <a:r>
              <a:rPr dirty="0" spc="145"/>
              <a:t> </a:t>
            </a:r>
            <a:r>
              <a:rPr dirty="0"/>
              <a:t>analyse</a:t>
            </a:r>
            <a:r>
              <a:rPr dirty="0" spc="140"/>
              <a:t> </a:t>
            </a:r>
            <a:r>
              <a:rPr dirty="0"/>
              <a:t>le</a:t>
            </a:r>
            <a:r>
              <a:rPr dirty="0" spc="145"/>
              <a:t> </a:t>
            </a:r>
            <a:r>
              <a:rPr dirty="0"/>
              <a:t>flux</a:t>
            </a:r>
            <a:r>
              <a:rPr dirty="0" spc="145"/>
              <a:t> </a:t>
            </a:r>
            <a:r>
              <a:rPr dirty="0"/>
              <a:t>vidéo</a:t>
            </a:r>
            <a:r>
              <a:rPr dirty="0" spc="140"/>
              <a:t> </a:t>
            </a:r>
            <a:r>
              <a:rPr dirty="0" spc="-10"/>
              <a:t>localement. </a:t>
            </a:r>
            <a:r>
              <a:rPr dirty="0" spc="-10"/>
              <a:t>	</a:t>
            </a:r>
            <a:r>
              <a:rPr dirty="0"/>
              <a:t>Elle</a:t>
            </a:r>
            <a:r>
              <a:rPr dirty="0" spc="55"/>
              <a:t> </a:t>
            </a:r>
            <a:r>
              <a:rPr dirty="0" spc="-10"/>
              <a:t>transforme</a:t>
            </a:r>
            <a:r>
              <a:rPr dirty="0" spc="55"/>
              <a:t> </a:t>
            </a:r>
            <a:r>
              <a:rPr dirty="0"/>
              <a:t>l’image</a:t>
            </a:r>
            <a:r>
              <a:rPr dirty="0" spc="55"/>
              <a:t> </a:t>
            </a:r>
            <a:r>
              <a:rPr dirty="0"/>
              <a:t>brute</a:t>
            </a:r>
            <a:r>
              <a:rPr dirty="0" spc="60"/>
              <a:t> </a:t>
            </a:r>
            <a:r>
              <a:rPr dirty="0"/>
              <a:t>en</a:t>
            </a:r>
            <a:r>
              <a:rPr dirty="0" spc="55"/>
              <a:t> </a:t>
            </a:r>
            <a:r>
              <a:rPr dirty="0" spc="-20"/>
              <a:t>données</a:t>
            </a:r>
            <a:r>
              <a:rPr dirty="0" spc="55"/>
              <a:t> </a:t>
            </a:r>
            <a:r>
              <a:rPr dirty="0" spc="-10"/>
              <a:t>numériques</a:t>
            </a:r>
            <a:r>
              <a:rPr dirty="0" spc="55"/>
              <a:t> </a:t>
            </a:r>
            <a:r>
              <a:rPr dirty="0" spc="-10"/>
              <a:t>(Plein/Vide/Alerte).</a:t>
            </a:r>
          </a:p>
          <a:p>
            <a:pPr marL="264160" marR="520065" indent="-160655">
              <a:lnSpc>
                <a:spcPct val="114599"/>
              </a:lnSpc>
              <a:spcBef>
                <a:spcPts val="300"/>
              </a:spcBef>
              <a:buFont typeface="Calibri"/>
              <a:buAutoNum type="arabicPeriod"/>
              <a:tabLst>
                <a:tab pos="265430" algn="l"/>
              </a:tabLst>
            </a:pPr>
            <a:r>
              <a:rPr dirty="0" spc="50" b="1">
                <a:latin typeface="Calibri"/>
                <a:cs typeface="Calibri"/>
              </a:rPr>
              <a:t>Couche</a:t>
            </a:r>
            <a:r>
              <a:rPr dirty="0" spc="18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de</a:t>
            </a:r>
            <a:r>
              <a:rPr dirty="0" spc="18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Transport</a:t>
            </a:r>
            <a:r>
              <a:rPr dirty="0" spc="180" b="1">
                <a:latin typeface="Calibri"/>
                <a:cs typeface="Calibri"/>
              </a:rPr>
              <a:t> </a:t>
            </a:r>
            <a:r>
              <a:rPr dirty="0" spc="135" b="1">
                <a:latin typeface="Calibri"/>
                <a:cs typeface="Calibri"/>
              </a:rPr>
              <a:t>(MQTT)</a:t>
            </a:r>
            <a:r>
              <a:rPr dirty="0" spc="18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:</a:t>
            </a:r>
            <a:r>
              <a:rPr dirty="0" spc="145" b="1">
                <a:latin typeface="Calibri"/>
                <a:cs typeface="Calibri"/>
              </a:rPr>
              <a:t> </a:t>
            </a:r>
            <a:r>
              <a:rPr dirty="0"/>
              <a:t>Utilisation</a:t>
            </a:r>
            <a:r>
              <a:rPr dirty="0" spc="150"/>
              <a:t> </a:t>
            </a:r>
            <a:r>
              <a:rPr dirty="0"/>
              <a:t>du</a:t>
            </a:r>
            <a:r>
              <a:rPr dirty="0" spc="150"/>
              <a:t> </a:t>
            </a:r>
            <a:r>
              <a:rPr dirty="0" spc="-10"/>
              <a:t>broker</a:t>
            </a:r>
            <a:r>
              <a:rPr dirty="0" spc="145"/>
              <a:t> </a:t>
            </a:r>
            <a:r>
              <a:rPr dirty="0"/>
              <a:t>HiveMQ.</a:t>
            </a:r>
            <a:r>
              <a:rPr dirty="0" spc="150"/>
              <a:t> </a:t>
            </a:r>
            <a:r>
              <a:rPr dirty="0"/>
              <a:t>Ce</a:t>
            </a:r>
            <a:r>
              <a:rPr dirty="0" spc="150"/>
              <a:t> </a:t>
            </a:r>
            <a:r>
              <a:rPr dirty="0" spc="-10"/>
              <a:t>protocole </a:t>
            </a:r>
            <a:r>
              <a:rPr dirty="0" spc="-10"/>
              <a:t>	</a:t>
            </a:r>
            <a:r>
              <a:rPr dirty="0"/>
              <a:t>"Publish/Subscribe"</a:t>
            </a:r>
            <a:r>
              <a:rPr dirty="0" spc="130"/>
              <a:t> </a:t>
            </a:r>
            <a:r>
              <a:rPr dirty="0"/>
              <a:t>permet</a:t>
            </a:r>
            <a:r>
              <a:rPr dirty="0" spc="130"/>
              <a:t> </a:t>
            </a:r>
            <a:r>
              <a:rPr dirty="0"/>
              <a:t>une</a:t>
            </a:r>
            <a:r>
              <a:rPr dirty="0" spc="135"/>
              <a:t> </a:t>
            </a:r>
            <a:r>
              <a:rPr dirty="0" spc="-10"/>
              <a:t>communication</a:t>
            </a:r>
            <a:r>
              <a:rPr dirty="0" spc="130"/>
              <a:t> </a:t>
            </a:r>
            <a:r>
              <a:rPr dirty="0" spc="-10"/>
              <a:t>asynchrone</a:t>
            </a:r>
            <a:r>
              <a:rPr dirty="0" spc="135"/>
              <a:t> </a:t>
            </a:r>
            <a:r>
              <a:rPr dirty="0" spc="-20"/>
              <a:t>ultra-</a:t>
            </a:r>
            <a:r>
              <a:rPr dirty="0" spc="-10"/>
              <a:t>légère.</a:t>
            </a:r>
          </a:p>
          <a:p>
            <a:pPr marL="264160" marR="69850" indent="-160655">
              <a:lnSpc>
                <a:spcPct val="114599"/>
              </a:lnSpc>
              <a:spcBef>
                <a:spcPts val="300"/>
              </a:spcBef>
              <a:buFont typeface="Calibri"/>
              <a:buAutoNum type="arabicPeriod"/>
              <a:tabLst>
                <a:tab pos="265430" algn="l"/>
              </a:tabLst>
            </a:pPr>
            <a:r>
              <a:rPr dirty="0" b="1">
                <a:latin typeface="Calibri"/>
                <a:cs typeface="Calibri"/>
              </a:rPr>
              <a:t>Unité</a:t>
            </a:r>
            <a:r>
              <a:rPr dirty="0" spc="18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de</a:t>
            </a:r>
            <a:r>
              <a:rPr dirty="0" spc="18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Signalisation</a:t>
            </a:r>
            <a:r>
              <a:rPr dirty="0" spc="185" b="1">
                <a:latin typeface="Calibri"/>
                <a:cs typeface="Calibri"/>
              </a:rPr>
              <a:t> </a:t>
            </a:r>
            <a:r>
              <a:rPr dirty="0" spc="95" b="1">
                <a:latin typeface="Calibri"/>
                <a:cs typeface="Calibri"/>
              </a:rPr>
              <a:t>(ESP32)</a:t>
            </a:r>
            <a:r>
              <a:rPr dirty="0" spc="19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:</a:t>
            </a:r>
            <a:r>
              <a:rPr dirty="0" spc="150" b="1">
                <a:latin typeface="Calibri"/>
                <a:cs typeface="Calibri"/>
              </a:rPr>
              <a:t> </a:t>
            </a:r>
            <a:r>
              <a:rPr dirty="0"/>
              <a:t>Reçoit</a:t>
            </a:r>
            <a:r>
              <a:rPr dirty="0" spc="150"/>
              <a:t> </a:t>
            </a:r>
            <a:r>
              <a:rPr dirty="0"/>
              <a:t>les</a:t>
            </a:r>
            <a:r>
              <a:rPr dirty="0" spc="155"/>
              <a:t> </a:t>
            </a:r>
            <a:r>
              <a:rPr dirty="0" spc="-10"/>
              <a:t>messages</a:t>
            </a:r>
            <a:r>
              <a:rPr dirty="0" spc="150"/>
              <a:t> </a:t>
            </a:r>
            <a:r>
              <a:rPr dirty="0"/>
              <a:t>via</a:t>
            </a:r>
            <a:r>
              <a:rPr dirty="0" spc="155"/>
              <a:t> </a:t>
            </a:r>
            <a:r>
              <a:rPr dirty="0"/>
              <a:t>WiFi</a:t>
            </a:r>
            <a:r>
              <a:rPr dirty="0" spc="150"/>
              <a:t> </a:t>
            </a:r>
            <a:r>
              <a:rPr dirty="0"/>
              <a:t>et</a:t>
            </a:r>
            <a:r>
              <a:rPr dirty="0" spc="150"/>
              <a:t> </a:t>
            </a:r>
            <a:r>
              <a:rPr dirty="0"/>
              <a:t>pilote</a:t>
            </a:r>
            <a:r>
              <a:rPr dirty="0" spc="155"/>
              <a:t> </a:t>
            </a:r>
            <a:r>
              <a:rPr dirty="0"/>
              <a:t>les</a:t>
            </a:r>
            <a:r>
              <a:rPr dirty="0" spc="150"/>
              <a:t> </a:t>
            </a:r>
            <a:r>
              <a:rPr dirty="0" spc="-10"/>
              <a:t>interfaces 	physiques</a:t>
            </a:r>
            <a:r>
              <a:rPr dirty="0" spc="50"/>
              <a:t> </a:t>
            </a:r>
            <a:r>
              <a:rPr dirty="0"/>
              <a:t>pour</a:t>
            </a:r>
            <a:r>
              <a:rPr dirty="0" spc="55"/>
              <a:t> </a:t>
            </a:r>
            <a:r>
              <a:rPr dirty="0"/>
              <a:t>les</a:t>
            </a:r>
            <a:r>
              <a:rPr dirty="0" spc="55"/>
              <a:t> </a:t>
            </a:r>
            <a:r>
              <a:rPr dirty="0"/>
              <a:t>agents</a:t>
            </a:r>
            <a:r>
              <a:rPr dirty="0" spc="55"/>
              <a:t> </a:t>
            </a:r>
            <a:r>
              <a:rPr dirty="0"/>
              <a:t>de</a:t>
            </a:r>
            <a:r>
              <a:rPr dirty="0" spc="55"/>
              <a:t> </a:t>
            </a:r>
            <a:r>
              <a:rPr dirty="0"/>
              <a:t>collecte</a:t>
            </a:r>
            <a:r>
              <a:rPr dirty="0" spc="55"/>
              <a:t> </a:t>
            </a:r>
            <a:r>
              <a:rPr dirty="0"/>
              <a:t>ou</a:t>
            </a:r>
            <a:r>
              <a:rPr dirty="0" spc="50"/>
              <a:t> </a:t>
            </a:r>
            <a:r>
              <a:rPr dirty="0"/>
              <a:t>les</a:t>
            </a:r>
            <a:r>
              <a:rPr dirty="0" spc="55"/>
              <a:t> </a:t>
            </a:r>
            <a:r>
              <a:rPr dirty="0" spc="-10"/>
              <a:t>passants.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613615" y="3020659"/>
            <a:ext cx="7493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solidFill>
                  <a:srgbClr val="22373A"/>
                </a:solidFill>
                <a:latin typeface="Calibri"/>
                <a:cs typeface="Calibri"/>
              </a:rPr>
              <a:t>3</a:t>
            </a:r>
            <a:endParaRPr sz="700"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50"/>
              <a:t>2.2</a:t>
            </a:r>
            <a:r>
              <a:rPr dirty="0" spc="305"/>
              <a:t> </a:t>
            </a:r>
            <a:r>
              <a:rPr dirty="0"/>
              <a:t>Pourquoi</a:t>
            </a:r>
            <a:r>
              <a:rPr dirty="0" spc="310"/>
              <a:t> </a:t>
            </a:r>
            <a:r>
              <a:rPr dirty="0" spc="220"/>
              <a:t>MQTT</a:t>
            </a:r>
            <a:r>
              <a:rPr dirty="0" spc="305"/>
              <a:t> </a:t>
            </a:r>
            <a:r>
              <a:rPr dirty="0"/>
              <a:t>plutôt</a:t>
            </a:r>
            <a:r>
              <a:rPr dirty="0" spc="310"/>
              <a:t> </a:t>
            </a:r>
            <a:r>
              <a:rPr dirty="0"/>
              <a:t>que</a:t>
            </a:r>
            <a:r>
              <a:rPr dirty="0" spc="305"/>
              <a:t> </a:t>
            </a:r>
            <a:r>
              <a:rPr dirty="0" spc="250"/>
              <a:t>HTTP</a:t>
            </a:r>
            <a:r>
              <a:rPr dirty="0" spc="15"/>
              <a:t> </a:t>
            </a:r>
            <a:r>
              <a:rPr dirty="0" spc="30"/>
              <a:t>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786160"/>
            <a:ext cx="5066030" cy="17513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Le</a:t>
            </a:r>
            <a:r>
              <a:rPr dirty="0" sz="1000" spc="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choix</a:t>
            </a:r>
            <a:r>
              <a:rPr dirty="0" sz="1000" spc="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du</a:t>
            </a:r>
            <a:r>
              <a:rPr dirty="0" sz="1000" spc="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protocole</a:t>
            </a:r>
            <a:r>
              <a:rPr dirty="0" sz="1000" spc="8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de</a:t>
            </a:r>
            <a:r>
              <a:rPr dirty="0" sz="1000" spc="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communication</a:t>
            </a:r>
            <a:r>
              <a:rPr dirty="0" sz="1000" spc="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r>
              <a:rPr dirty="0" sz="1000" spc="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été</a:t>
            </a:r>
            <a:r>
              <a:rPr dirty="0" sz="1000" spc="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déterminant</a:t>
            </a:r>
            <a:r>
              <a:rPr dirty="0" sz="1000" spc="8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pour</a:t>
            </a:r>
            <a:r>
              <a:rPr dirty="0" sz="1000" spc="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la</a:t>
            </a:r>
            <a:r>
              <a:rPr dirty="0" sz="1000" spc="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viabilité</a:t>
            </a:r>
            <a:r>
              <a:rPr dirty="0" sz="1000" spc="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du</a:t>
            </a:r>
            <a:r>
              <a:rPr dirty="0" sz="1000" spc="8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projet</a:t>
            </a:r>
            <a:r>
              <a:rPr dirty="0" sz="1000" spc="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50">
                <a:solidFill>
                  <a:srgbClr val="22373A"/>
                </a:solidFill>
                <a:latin typeface="Calibri"/>
                <a:cs typeface="Calibri"/>
              </a:rPr>
              <a:t>:</a:t>
            </a:r>
            <a:endParaRPr sz="1000">
              <a:latin typeface="Calibri"/>
              <a:cs typeface="Calibri"/>
            </a:endParaRPr>
          </a:p>
          <a:p>
            <a:pPr marL="264160" marR="66040" indent="-125730">
              <a:lnSpc>
                <a:spcPct val="114599"/>
              </a:lnSpc>
              <a:spcBef>
                <a:spcPts val="795"/>
              </a:spcBef>
              <a:buFont typeface="Calibri"/>
              <a:buChar char="•"/>
              <a:tabLst>
                <a:tab pos="265430" algn="l"/>
              </a:tabLst>
            </a:pPr>
            <a:r>
              <a:rPr dirty="0" sz="1000" b="1">
                <a:solidFill>
                  <a:srgbClr val="22373A"/>
                </a:solidFill>
                <a:latin typeface="Calibri"/>
                <a:cs typeface="Calibri"/>
              </a:rPr>
              <a:t>Économie</a:t>
            </a:r>
            <a:r>
              <a:rPr dirty="0" sz="1000" spc="16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2373A"/>
                </a:solidFill>
                <a:latin typeface="Calibri"/>
                <a:cs typeface="Calibri"/>
              </a:rPr>
              <a:t>de</a:t>
            </a:r>
            <a:r>
              <a:rPr dirty="0" sz="1000" spc="16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2373A"/>
                </a:solidFill>
                <a:latin typeface="Calibri"/>
                <a:cs typeface="Calibri"/>
              </a:rPr>
              <a:t>ressources</a:t>
            </a:r>
            <a:r>
              <a:rPr dirty="0" sz="1000" spc="16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2373A"/>
                </a:solidFill>
                <a:latin typeface="Calibri"/>
                <a:cs typeface="Calibri"/>
              </a:rPr>
              <a:t>:</a:t>
            </a:r>
            <a:r>
              <a:rPr dirty="0" sz="1000" spc="125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Contrairement</a:t>
            </a:r>
            <a:r>
              <a:rPr dirty="0" sz="1000" spc="13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au</a:t>
            </a:r>
            <a:r>
              <a:rPr dirty="0" sz="1000" spc="12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135">
                <a:solidFill>
                  <a:srgbClr val="22373A"/>
                </a:solidFill>
                <a:latin typeface="Calibri"/>
                <a:cs typeface="Calibri"/>
              </a:rPr>
              <a:t>HTTP</a:t>
            </a:r>
            <a:r>
              <a:rPr dirty="0" sz="1000" spc="13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qui</a:t>
            </a:r>
            <a:r>
              <a:rPr dirty="0" sz="1000" spc="13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nécessite</a:t>
            </a:r>
            <a:r>
              <a:rPr dirty="0" sz="1000" spc="12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des</a:t>
            </a:r>
            <a:r>
              <a:rPr dirty="0" sz="1000" spc="13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Calibri"/>
                <a:cs typeface="Calibri"/>
              </a:rPr>
              <a:t>en-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têtes</a:t>
            </a:r>
            <a:r>
              <a:rPr dirty="0" sz="1000" spc="12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(headers)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	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lourds,</a:t>
            </a:r>
            <a:r>
              <a:rPr dirty="0" sz="1000" spc="6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un</a:t>
            </a:r>
            <a:r>
              <a:rPr dirty="0" sz="1000" spc="7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paquet</a:t>
            </a:r>
            <a:r>
              <a:rPr dirty="0" sz="1000" spc="6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110">
                <a:solidFill>
                  <a:srgbClr val="22373A"/>
                </a:solidFill>
                <a:latin typeface="Calibri"/>
                <a:cs typeface="Calibri"/>
              </a:rPr>
              <a:t>MQTT</a:t>
            </a:r>
            <a:r>
              <a:rPr dirty="0" sz="1000" spc="7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est</a:t>
            </a:r>
            <a:r>
              <a:rPr dirty="0" sz="1000" spc="6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réduit</a:t>
            </a:r>
            <a:r>
              <a:rPr dirty="0" sz="1000" spc="7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à</a:t>
            </a:r>
            <a:r>
              <a:rPr dirty="0" sz="1000" spc="6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son</a:t>
            </a:r>
            <a:r>
              <a:rPr dirty="0" sz="1000" spc="7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strict</a:t>
            </a:r>
            <a:r>
              <a:rPr dirty="0" sz="1000" spc="6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minimum,</a:t>
            </a:r>
            <a:r>
              <a:rPr dirty="0" sz="1000" spc="7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ce</a:t>
            </a:r>
            <a:r>
              <a:rPr dirty="0" sz="1000" spc="7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qui</a:t>
            </a:r>
            <a:r>
              <a:rPr dirty="0" sz="1000" spc="6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est</a:t>
            </a:r>
            <a:r>
              <a:rPr dirty="0" sz="1000" spc="7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idéal</a:t>
            </a:r>
            <a:r>
              <a:rPr dirty="0" sz="1000" spc="6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pour</a:t>
            </a:r>
            <a:r>
              <a:rPr dirty="0" sz="1000" spc="7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Calibri"/>
                <a:cs typeface="Calibri"/>
              </a:rPr>
              <a:t>les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 	microcontrôleurs</a:t>
            </a:r>
            <a:r>
              <a:rPr dirty="0" sz="1000" spc="6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comme</a:t>
            </a:r>
            <a:r>
              <a:rPr dirty="0" sz="1000" spc="6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l’ESP32.</a:t>
            </a:r>
            <a:endParaRPr sz="1000">
              <a:latin typeface="Calibri"/>
              <a:cs typeface="Calibri"/>
            </a:endParaRPr>
          </a:p>
          <a:p>
            <a:pPr marL="264160" marR="193675" indent="-125730">
              <a:lnSpc>
                <a:spcPct val="114599"/>
              </a:lnSpc>
              <a:spcBef>
                <a:spcPts val="300"/>
              </a:spcBef>
              <a:buFont typeface="Calibri"/>
              <a:buChar char="•"/>
              <a:tabLst>
                <a:tab pos="265430" algn="l"/>
              </a:tabLst>
            </a:pPr>
            <a:r>
              <a:rPr dirty="0" sz="1000" b="1">
                <a:solidFill>
                  <a:srgbClr val="22373A"/>
                </a:solidFill>
                <a:latin typeface="Calibri"/>
                <a:cs typeface="Calibri"/>
              </a:rPr>
              <a:t>Modèle</a:t>
            </a:r>
            <a:r>
              <a:rPr dirty="0" sz="1000" spc="21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55" b="1">
                <a:solidFill>
                  <a:srgbClr val="22373A"/>
                </a:solidFill>
                <a:latin typeface="Calibri"/>
                <a:cs typeface="Calibri"/>
              </a:rPr>
              <a:t>Push</a:t>
            </a:r>
            <a:r>
              <a:rPr dirty="0" sz="1000" spc="21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2373A"/>
                </a:solidFill>
                <a:latin typeface="Calibri"/>
                <a:cs typeface="Calibri"/>
              </a:rPr>
              <a:t>vs</a:t>
            </a:r>
            <a:r>
              <a:rPr dirty="0" sz="1000" spc="21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2373A"/>
                </a:solidFill>
                <a:latin typeface="Calibri"/>
                <a:cs typeface="Calibri"/>
              </a:rPr>
              <a:t>Pull</a:t>
            </a:r>
            <a:r>
              <a:rPr dirty="0" sz="1000" spc="215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2373A"/>
                </a:solidFill>
                <a:latin typeface="Calibri"/>
                <a:cs typeface="Calibri"/>
              </a:rPr>
              <a:t>:</a:t>
            </a:r>
            <a:r>
              <a:rPr dirty="0" sz="1000" spc="175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En</a:t>
            </a:r>
            <a:r>
              <a:rPr dirty="0" sz="1000" spc="1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85">
                <a:solidFill>
                  <a:srgbClr val="22373A"/>
                </a:solidFill>
                <a:latin typeface="Calibri"/>
                <a:cs typeface="Calibri"/>
              </a:rPr>
              <a:t>MQTT,</a:t>
            </a:r>
            <a:r>
              <a:rPr dirty="0" sz="1000" spc="1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l’ESP32</a:t>
            </a:r>
            <a:r>
              <a:rPr dirty="0" sz="1000" spc="1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reçoit</a:t>
            </a:r>
            <a:r>
              <a:rPr dirty="0" sz="1000" spc="1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l’information</a:t>
            </a:r>
            <a:r>
              <a:rPr dirty="0" sz="1000" spc="1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instantanément</a:t>
            </a:r>
            <a:r>
              <a:rPr dirty="0" sz="1000" spc="1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Calibri"/>
                <a:cs typeface="Calibri"/>
              </a:rPr>
              <a:t>dès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 	qu’elle</a:t>
            </a:r>
            <a:r>
              <a:rPr dirty="0" sz="1000" spc="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est</a:t>
            </a:r>
            <a:r>
              <a:rPr dirty="0" sz="1000" spc="8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publiée.</a:t>
            </a:r>
            <a:r>
              <a:rPr dirty="0" sz="1000" spc="8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En</a:t>
            </a:r>
            <a:r>
              <a:rPr dirty="0" sz="1000" spc="8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95">
                <a:solidFill>
                  <a:srgbClr val="22373A"/>
                </a:solidFill>
                <a:latin typeface="Calibri"/>
                <a:cs typeface="Calibri"/>
              </a:rPr>
              <a:t>HTTP,</a:t>
            </a:r>
            <a:r>
              <a:rPr dirty="0" sz="1000" spc="8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il</a:t>
            </a:r>
            <a:r>
              <a:rPr dirty="0" sz="1000" spc="8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devrait</a:t>
            </a:r>
            <a:r>
              <a:rPr dirty="0" sz="1000" spc="8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interroger</a:t>
            </a:r>
            <a:r>
              <a:rPr dirty="0" sz="1000" spc="8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le</a:t>
            </a:r>
            <a:r>
              <a:rPr dirty="0" sz="1000" spc="8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serveur</a:t>
            </a:r>
            <a:r>
              <a:rPr dirty="0" sz="1000" spc="8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en</a:t>
            </a:r>
            <a:r>
              <a:rPr dirty="0" sz="1000" spc="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boucle</a:t>
            </a:r>
            <a:r>
              <a:rPr dirty="0" sz="1000" spc="8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(polling),</a:t>
            </a:r>
            <a:r>
              <a:rPr dirty="0" sz="1000" spc="8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ce</a:t>
            </a:r>
            <a:r>
              <a:rPr dirty="0" sz="1000" spc="8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Calibri"/>
                <a:cs typeface="Calibri"/>
              </a:rPr>
              <a:t>qui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 	consomme</a:t>
            </a:r>
            <a:r>
              <a:rPr dirty="0" sz="1000" spc="4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Calibri"/>
                <a:cs typeface="Calibri"/>
              </a:rPr>
              <a:t>énormément</a:t>
            </a:r>
            <a:r>
              <a:rPr dirty="0" sz="1000" spc="5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d’énergie.</a:t>
            </a:r>
            <a:endParaRPr sz="1000">
              <a:latin typeface="Calibri"/>
              <a:cs typeface="Calibri"/>
            </a:endParaRPr>
          </a:p>
          <a:p>
            <a:pPr marL="264160" marR="5080" indent="-125730">
              <a:lnSpc>
                <a:spcPct val="114599"/>
              </a:lnSpc>
              <a:spcBef>
                <a:spcPts val="300"/>
              </a:spcBef>
              <a:buFont typeface="Calibri"/>
              <a:buChar char="•"/>
              <a:tabLst>
                <a:tab pos="265430" algn="l"/>
              </a:tabLst>
            </a:pPr>
            <a:r>
              <a:rPr dirty="0" sz="1000" b="1">
                <a:solidFill>
                  <a:srgbClr val="22373A"/>
                </a:solidFill>
                <a:latin typeface="Calibri"/>
                <a:cs typeface="Calibri"/>
              </a:rPr>
              <a:t>Traversée</a:t>
            </a:r>
            <a:r>
              <a:rPr dirty="0" sz="1000" spc="165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2373A"/>
                </a:solidFill>
                <a:latin typeface="Calibri"/>
                <a:cs typeface="Calibri"/>
              </a:rPr>
              <a:t>de</a:t>
            </a:r>
            <a:r>
              <a:rPr dirty="0" sz="1000" spc="165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2373A"/>
                </a:solidFill>
                <a:latin typeface="Calibri"/>
                <a:cs typeface="Calibri"/>
              </a:rPr>
              <a:t>Pare-feu</a:t>
            </a:r>
            <a:r>
              <a:rPr dirty="0" sz="1000" spc="165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2373A"/>
                </a:solidFill>
                <a:latin typeface="Calibri"/>
                <a:cs typeface="Calibri"/>
              </a:rPr>
              <a:t>:</a:t>
            </a:r>
            <a:r>
              <a:rPr dirty="0" sz="1000" spc="135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Le</a:t>
            </a:r>
            <a:r>
              <a:rPr dirty="0" sz="1000" spc="13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broker</a:t>
            </a:r>
            <a:r>
              <a:rPr dirty="0" sz="1000" spc="13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HiveMQ</a:t>
            </a:r>
            <a:r>
              <a:rPr dirty="0" sz="1000" spc="13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centralise</a:t>
            </a:r>
            <a:r>
              <a:rPr dirty="0" sz="1000" spc="13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les</a:t>
            </a:r>
            <a:r>
              <a:rPr dirty="0" sz="1000" spc="13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connexions.</a:t>
            </a:r>
            <a:r>
              <a:rPr dirty="0" sz="1000" spc="13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Cela</a:t>
            </a:r>
            <a:r>
              <a:rPr dirty="0" sz="1000" spc="13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évite</a:t>
            </a:r>
            <a:r>
              <a:rPr dirty="0" sz="1000" spc="13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d’avoir</a:t>
            </a:r>
            <a:r>
              <a:rPr dirty="0" sz="1000" spc="13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50">
                <a:solidFill>
                  <a:srgbClr val="22373A"/>
                </a:solidFill>
                <a:latin typeface="Calibri"/>
                <a:cs typeface="Calibri"/>
              </a:rPr>
              <a:t>à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 	configurer</a:t>
            </a:r>
            <a:r>
              <a:rPr dirty="0" sz="1000" spc="4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des</a:t>
            </a:r>
            <a:r>
              <a:rPr dirty="0" sz="1000" spc="5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redirections</a:t>
            </a:r>
            <a:r>
              <a:rPr dirty="0" sz="1000" spc="4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de</a:t>
            </a:r>
            <a:r>
              <a:rPr dirty="0" sz="1000" spc="5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ports</a:t>
            </a:r>
            <a:r>
              <a:rPr dirty="0" sz="1000" spc="5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ou</a:t>
            </a:r>
            <a:r>
              <a:rPr dirty="0" sz="1000" spc="4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des</a:t>
            </a:r>
            <a:r>
              <a:rPr dirty="0" sz="1000" spc="5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adresses</a:t>
            </a:r>
            <a:r>
              <a:rPr dirty="0" sz="1000" spc="5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65">
                <a:solidFill>
                  <a:srgbClr val="22373A"/>
                </a:solidFill>
                <a:latin typeface="Calibri"/>
                <a:cs typeface="Calibri"/>
              </a:rPr>
              <a:t>IP</a:t>
            </a:r>
            <a:r>
              <a:rPr dirty="0" sz="1000" spc="4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statiques</a:t>
            </a:r>
            <a:r>
              <a:rPr dirty="0" sz="1000" spc="5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sur</a:t>
            </a:r>
            <a:r>
              <a:rPr dirty="0" sz="1000" spc="5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chaque</a:t>
            </a:r>
            <a:r>
              <a:rPr dirty="0" sz="1000" spc="4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poubelle.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13615" y="3020659"/>
            <a:ext cx="7493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solidFill>
                  <a:srgbClr val="22373A"/>
                </a:solidFill>
                <a:latin typeface="Calibri"/>
                <a:cs typeface="Calibri"/>
              </a:rPr>
              <a:t>4</a:t>
            </a:r>
            <a:endParaRPr sz="700"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5854" y="1312529"/>
            <a:ext cx="193103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80" b="1">
                <a:solidFill>
                  <a:srgbClr val="22373A"/>
                </a:solidFill>
                <a:latin typeface="Calibri"/>
                <a:cs typeface="Calibri"/>
                <a:hlinkClick r:id="rId2" action="ppaction://hlinksldjump"/>
              </a:rPr>
              <a:t>Réalisation</a:t>
            </a:r>
            <a:r>
              <a:rPr dirty="0" sz="1400" spc="260" b="1">
                <a:solidFill>
                  <a:srgbClr val="22373A"/>
                </a:solidFill>
                <a:latin typeface="Calibri"/>
                <a:cs typeface="Calibri"/>
                <a:hlinkClick r:id="rId2" action="ppaction://hlinksldjump"/>
              </a:rPr>
              <a:t> </a:t>
            </a:r>
            <a:r>
              <a:rPr dirty="0" sz="1400" spc="85" b="1">
                <a:solidFill>
                  <a:srgbClr val="22373A"/>
                </a:solidFill>
                <a:latin typeface="Calibri"/>
                <a:cs typeface="Calibri"/>
                <a:hlinkClick r:id="rId2" action="ppaction://hlinksldjump"/>
              </a:rPr>
              <a:t>Technique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488554" y="1682032"/>
            <a:ext cx="2783205" cy="5080"/>
            <a:chOff x="1488554" y="1682032"/>
            <a:chExt cx="2783205" cy="5080"/>
          </a:xfrm>
        </p:grpSpPr>
        <p:sp>
          <p:nvSpPr>
            <p:cNvPr id="4" name="object 4"/>
            <p:cNvSpPr/>
            <p:nvPr/>
          </p:nvSpPr>
          <p:spPr>
            <a:xfrm>
              <a:off x="1488554" y="1682032"/>
              <a:ext cx="2783205" cy="5080"/>
            </a:xfrm>
            <a:custGeom>
              <a:avLst/>
              <a:gdLst/>
              <a:ahLst/>
              <a:cxnLst/>
              <a:rect l="l" t="t" r="r" b="b"/>
              <a:pathLst>
                <a:path w="2783204" h="5080">
                  <a:moveTo>
                    <a:pt x="0" y="5060"/>
                  </a:moveTo>
                  <a:lnTo>
                    <a:pt x="0" y="0"/>
                  </a:lnTo>
                  <a:lnTo>
                    <a:pt x="2782917" y="0"/>
                  </a:lnTo>
                  <a:lnTo>
                    <a:pt x="278291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488554" y="1682032"/>
              <a:ext cx="1391920" cy="5080"/>
            </a:xfrm>
            <a:custGeom>
              <a:avLst/>
              <a:gdLst/>
              <a:ahLst/>
              <a:cxnLst/>
              <a:rect l="l" t="t" r="r" b="b"/>
              <a:pathLst>
                <a:path w="1391920" h="5080">
                  <a:moveTo>
                    <a:pt x="0" y="5060"/>
                  </a:moveTo>
                  <a:lnTo>
                    <a:pt x="0" y="0"/>
                  </a:lnTo>
                  <a:lnTo>
                    <a:pt x="1391458" y="0"/>
                  </a:lnTo>
                  <a:lnTo>
                    <a:pt x="139145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2D7D0A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50"/>
              <a:t>3.1</a:t>
            </a:r>
            <a:r>
              <a:rPr dirty="0" spc="295"/>
              <a:t> </a:t>
            </a:r>
            <a:r>
              <a:rPr dirty="0" spc="10"/>
              <a:t>Simulation</a:t>
            </a:r>
            <a:r>
              <a:rPr dirty="0" spc="295"/>
              <a:t> </a:t>
            </a:r>
            <a:r>
              <a:rPr dirty="0" spc="10"/>
              <a:t>du</a:t>
            </a:r>
            <a:r>
              <a:rPr dirty="0" spc="295"/>
              <a:t> </a:t>
            </a:r>
            <a:r>
              <a:rPr dirty="0" spc="65"/>
              <a:t>Circuit</a:t>
            </a:r>
            <a:r>
              <a:rPr dirty="0" spc="295"/>
              <a:t> </a:t>
            </a:r>
            <a:r>
              <a:rPr dirty="0" spc="10"/>
              <a:t>sous</a:t>
            </a:r>
            <a:r>
              <a:rPr dirty="0" spc="295"/>
              <a:t> </a:t>
            </a:r>
            <a:r>
              <a:rPr dirty="0" spc="-10"/>
              <a:t>Wokwi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0004" y="910569"/>
            <a:ext cx="2520315" cy="2242820"/>
            <a:chOff x="240004" y="910569"/>
            <a:chExt cx="2520315" cy="2242820"/>
          </a:xfrm>
        </p:grpSpPr>
        <p:sp>
          <p:nvSpPr>
            <p:cNvPr id="4" name="object 4"/>
            <p:cNvSpPr/>
            <p:nvPr/>
          </p:nvSpPr>
          <p:spPr>
            <a:xfrm>
              <a:off x="240004" y="910569"/>
              <a:ext cx="2520315" cy="2242820"/>
            </a:xfrm>
            <a:custGeom>
              <a:avLst/>
              <a:gdLst/>
              <a:ahLst/>
              <a:cxnLst/>
              <a:rect l="l" t="t" r="r" b="b"/>
              <a:pathLst>
                <a:path w="2520315" h="2242820">
                  <a:moveTo>
                    <a:pt x="2471952" y="0"/>
                  </a:moveTo>
                  <a:lnTo>
                    <a:pt x="48080" y="0"/>
                  </a:lnTo>
                  <a:lnTo>
                    <a:pt x="29365" y="3778"/>
                  </a:lnTo>
                  <a:lnTo>
                    <a:pt x="14082" y="14082"/>
                  </a:lnTo>
                  <a:lnTo>
                    <a:pt x="3778" y="29365"/>
                  </a:lnTo>
                  <a:lnTo>
                    <a:pt x="0" y="48080"/>
                  </a:lnTo>
                  <a:lnTo>
                    <a:pt x="0" y="2194227"/>
                  </a:lnTo>
                  <a:lnTo>
                    <a:pt x="3778" y="2212942"/>
                  </a:lnTo>
                  <a:lnTo>
                    <a:pt x="14082" y="2228225"/>
                  </a:lnTo>
                  <a:lnTo>
                    <a:pt x="29365" y="2238529"/>
                  </a:lnTo>
                  <a:lnTo>
                    <a:pt x="48080" y="2242307"/>
                  </a:lnTo>
                  <a:lnTo>
                    <a:pt x="2471952" y="2242307"/>
                  </a:lnTo>
                  <a:lnTo>
                    <a:pt x="2490667" y="2238529"/>
                  </a:lnTo>
                  <a:lnTo>
                    <a:pt x="2505950" y="2228225"/>
                  </a:lnTo>
                  <a:lnTo>
                    <a:pt x="2516254" y="2212942"/>
                  </a:lnTo>
                  <a:lnTo>
                    <a:pt x="2520032" y="2194227"/>
                  </a:lnTo>
                  <a:lnTo>
                    <a:pt x="2520032" y="48080"/>
                  </a:lnTo>
                  <a:lnTo>
                    <a:pt x="2516254" y="29365"/>
                  </a:lnTo>
                  <a:lnTo>
                    <a:pt x="2505950" y="14082"/>
                  </a:lnTo>
                  <a:lnTo>
                    <a:pt x="2490667" y="3778"/>
                  </a:lnTo>
                  <a:lnTo>
                    <a:pt x="2471952" y="0"/>
                  </a:lnTo>
                  <a:close/>
                </a:path>
              </a:pathLst>
            </a:custGeom>
            <a:solidFill>
              <a:srgbClr val="2D7D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50126" y="920691"/>
              <a:ext cx="2499995" cy="2222500"/>
            </a:xfrm>
            <a:custGeom>
              <a:avLst/>
              <a:gdLst/>
              <a:ahLst/>
              <a:cxnLst/>
              <a:rect l="l" t="t" r="r" b="b"/>
              <a:pathLst>
                <a:path w="2499995" h="2222500">
                  <a:moveTo>
                    <a:pt x="2461829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2184105"/>
                  </a:lnTo>
                  <a:lnTo>
                    <a:pt x="2982" y="2198880"/>
                  </a:lnTo>
                  <a:lnTo>
                    <a:pt x="11117" y="2210945"/>
                  </a:lnTo>
                  <a:lnTo>
                    <a:pt x="23183" y="2219080"/>
                  </a:lnTo>
                  <a:lnTo>
                    <a:pt x="37958" y="2222063"/>
                  </a:lnTo>
                  <a:lnTo>
                    <a:pt x="2461829" y="2222063"/>
                  </a:lnTo>
                  <a:lnTo>
                    <a:pt x="2476605" y="2219080"/>
                  </a:lnTo>
                  <a:lnTo>
                    <a:pt x="2488670" y="2210945"/>
                  </a:lnTo>
                  <a:lnTo>
                    <a:pt x="2496805" y="2198880"/>
                  </a:lnTo>
                  <a:lnTo>
                    <a:pt x="2499788" y="2184105"/>
                  </a:lnTo>
                  <a:lnTo>
                    <a:pt x="2499788" y="37958"/>
                  </a:lnTo>
                  <a:lnTo>
                    <a:pt x="2496805" y="23182"/>
                  </a:lnTo>
                  <a:lnTo>
                    <a:pt x="2488670" y="11117"/>
                  </a:lnTo>
                  <a:lnTo>
                    <a:pt x="2476605" y="2982"/>
                  </a:lnTo>
                  <a:lnTo>
                    <a:pt x="24618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0123" y="1028703"/>
              <a:ext cx="2139787" cy="200605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47294" y="397072"/>
            <a:ext cx="5340985" cy="2755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94030">
              <a:lnSpc>
                <a:spcPct val="114599"/>
              </a:lnSpc>
              <a:spcBef>
                <a:spcPts val="100"/>
              </a:spcBef>
            </a:pP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Pour</a:t>
            </a:r>
            <a:r>
              <a:rPr dirty="0" sz="1000" spc="6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valider</a:t>
            </a:r>
            <a:r>
              <a:rPr dirty="0" sz="1000" spc="6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l’architecture</a:t>
            </a:r>
            <a:r>
              <a:rPr dirty="0" sz="1000" spc="6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60">
                <a:solidFill>
                  <a:srgbClr val="22373A"/>
                </a:solidFill>
                <a:latin typeface="Calibri"/>
                <a:cs typeface="Calibri"/>
              </a:rPr>
              <a:t>IoT</a:t>
            </a:r>
            <a:r>
              <a:rPr dirty="0" sz="1000" spc="6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avant</a:t>
            </a:r>
            <a:r>
              <a:rPr dirty="0" sz="1000" spc="6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l’implémentation</a:t>
            </a:r>
            <a:r>
              <a:rPr dirty="0" sz="1000" spc="6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réelle,</a:t>
            </a:r>
            <a:r>
              <a:rPr dirty="0" sz="1000" spc="6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une</a:t>
            </a:r>
            <a:r>
              <a:rPr dirty="0" sz="1000" spc="6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simulation</a:t>
            </a:r>
            <a:r>
              <a:rPr dirty="0" sz="1000" spc="6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complète</a:t>
            </a:r>
            <a:r>
              <a:rPr dirty="0" sz="1000" spc="6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r>
              <a:rPr dirty="0" sz="1000" spc="6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Calibri"/>
                <a:cs typeface="Calibri"/>
              </a:rPr>
              <a:t>été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 réalisée</a:t>
            </a:r>
            <a:r>
              <a:rPr dirty="0" sz="1000" spc="4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sur</a:t>
            </a:r>
            <a:r>
              <a:rPr dirty="0" sz="1000" spc="4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la</a:t>
            </a:r>
            <a:r>
              <a:rPr dirty="0" sz="1000" spc="4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plateforme</a:t>
            </a:r>
            <a:r>
              <a:rPr dirty="0" sz="1000" spc="4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Wokwi.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1000">
              <a:latin typeface="Calibri"/>
              <a:cs typeface="Calibri"/>
            </a:endParaRPr>
          </a:p>
          <a:p>
            <a:pPr marL="2652395">
              <a:lnSpc>
                <a:spcPct val="100000"/>
              </a:lnSpc>
            </a:pPr>
            <a:r>
              <a:rPr dirty="0" sz="1000" spc="10" b="1">
                <a:solidFill>
                  <a:srgbClr val="22373A"/>
                </a:solidFill>
                <a:latin typeface="Calibri"/>
                <a:cs typeface="Calibri"/>
              </a:rPr>
              <a:t>Description</a:t>
            </a:r>
            <a:r>
              <a:rPr dirty="0" sz="1000" spc="31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10" b="1">
                <a:solidFill>
                  <a:srgbClr val="22373A"/>
                </a:solidFill>
                <a:latin typeface="Calibri"/>
                <a:cs typeface="Calibri"/>
              </a:rPr>
              <a:t>du</a:t>
            </a:r>
            <a:r>
              <a:rPr dirty="0" sz="1000" spc="315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10" b="1">
                <a:solidFill>
                  <a:srgbClr val="22373A"/>
                </a:solidFill>
                <a:latin typeface="Calibri"/>
                <a:cs typeface="Calibri"/>
              </a:rPr>
              <a:t>Câblage</a:t>
            </a:r>
            <a:r>
              <a:rPr dirty="0" sz="1000" spc="315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50" b="1">
                <a:solidFill>
                  <a:srgbClr val="22373A"/>
                </a:solidFill>
                <a:latin typeface="Calibri"/>
                <a:cs typeface="Calibri"/>
              </a:rPr>
              <a:t>:</a:t>
            </a:r>
            <a:endParaRPr sz="1000">
              <a:latin typeface="Calibri"/>
              <a:cs typeface="Calibri"/>
            </a:endParaRPr>
          </a:p>
          <a:p>
            <a:pPr marL="2904490" indent="-125730">
              <a:lnSpc>
                <a:spcPct val="100000"/>
              </a:lnSpc>
              <a:spcBef>
                <a:spcPts val="475"/>
              </a:spcBef>
              <a:buFont typeface="Calibri"/>
              <a:buChar char="•"/>
              <a:tabLst>
                <a:tab pos="2904490" algn="l"/>
              </a:tabLst>
            </a:pPr>
            <a:r>
              <a:rPr dirty="0" sz="1000" spc="55" b="1">
                <a:solidFill>
                  <a:srgbClr val="22373A"/>
                </a:solidFill>
                <a:latin typeface="Calibri"/>
                <a:cs typeface="Calibri"/>
              </a:rPr>
              <a:t>Statut</a:t>
            </a:r>
            <a:r>
              <a:rPr dirty="0" sz="1000" spc="125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155" b="1">
                <a:solidFill>
                  <a:srgbClr val="22373A"/>
                </a:solidFill>
                <a:latin typeface="Calibri"/>
                <a:cs typeface="Calibri"/>
              </a:rPr>
              <a:t>OK</a:t>
            </a:r>
            <a:r>
              <a:rPr dirty="0" sz="1000" spc="13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2373A"/>
                </a:solidFill>
                <a:latin typeface="Calibri"/>
                <a:cs typeface="Calibri"/>
              </a:rPr>
              <a:t>:</a:t>
            </a:r>
            <a:r>
              <a:rPr dirty="0" sz="1000" spc="105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105">
                <a:solidFill>
                  <a:srgbClr val="22373A"/>
                </a:solidFill>
                <a:latin typeface="Calibri"/>
                <a:cs typeface="Calibri"/>
              </a:rPr>
              <a:t>LED</a:t>
            </a:r>
            <a:r>
              <a:rPr dirty="0" sz="1000" spc="1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Verte</a:t>
            </a:r>
            <a:r>
              <a:rPr dirty="0" sz="1000" spc="1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sur</a:t>
            </a:r>
            <a:r>
              <a:rPr dirty="0" sz="1000" spc="1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55">
                <a:solidFill>
                  <a:srgbClr val="22373A"/>
                </a:solidFill>
                <a:latin typeface="Calibri"/>
                <a:cs typeface="Calibri"/>
              </a:rPr>
              <a:t>GPIO</a:t>
            </a:r>
            <a:r>
              <a:rPr dirty="0" sz="1000" spc="1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Calibri"/>
                <a:cs typeface="Calibri"/>
              </a:rPr>
              <a:t>18.</a:t>
            </a:r>
            <a:endParaRPr sz="1000">
              <a:latin typeface="Calibri"/>
              <a:cs typeface="Calibri"/>
            </a:endParaRPr>
          </a:p>
          <a:p>
            <a:pPr marL="2904490" indent="-125730">
              <a:lnSpc>
                <a:spcPct val="100000"/>
              </a:lnSpc>
              <a:spcBef>
                <a:spcPts val="475"/>
              </a:spcBef>
              <a:buFont typeface="Calibri"/>
              <a:buChar char="•"/>
              <a:tabLst>
                <a:tab pos="2904490" algn="l"/>
              </a:tabLst>
            </a:pPr>
            <a:r>
              <a:rPr dirty="0" sz="1000" spc="55" b="1">
                <a:solidFill>
                  <a:srgbClr val="22373A"/>
                </a:solidFill>
                <a:latin typeface="Calibri"/>
                <a:cs typeface="Calibri"/>
              </a:rPr>
              <a:t>Statut</a:t>
            </a:r>
            <a:r>
              <a:rPr dirty="0" sz="1000" spc="165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2373A"/>
                </a:solidFill>
                <a:latin typeface="Calibri"/>
                <a:cs typeface="Calibri"/>
              </a:rPr>
              <a:t>Plein</a:t>
            </a:r>
            <a:r>
              <a:rPr dirty="0" sz="1000" spc="165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2373A"/>
                </a:solidFill>
                <a:latin typeface="Calibri"/>
                <a:cs typeface="Calibri"/>
              </a:rPr>
              <a:t>:</a:t>
            </a:r>
            <a:r>
              <a:rPr dirty="0" sz="1000" spc="13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105">
                <a:solidFill>
                  <a:srgbClr val="22373A"/>
                </a:solidFill>
                <a:latin typeface="Calibri"/>
                <a:cs typeface="Calibri"/>
              </a:rPr>
              <a:t>LED</a:t>
            </a:r>
            <a:r>
              <a:rPr dirty="0" sz="1000" spc="13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Rouge</a:t>
            </a:r>
            <a:r>
              <a:rPr dirty="0" sz="1000" spc="13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sur</a:t>
            </a:r>
            <a:r>
              <a:rPr dirty="0" sz="1000" spc="13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55">
                <a:solidFill>
                  <a:srgbClr val="22373A"/>
                </a:solidFill>
                <a:latin typeface="Calibri"/>
                <a:cs typeface="Calibri"/>
              </a:rPr>
              <a:t>GPIO</a:t>
            </a:r>
            <a:r>
              <a:rPr dirty="0" sz="1000" spc="13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Calibri"/>
                <a:cs typeface="Calibri"/>
              </a:rPr>
              <a:t>19.</a:t>
            </a:r>
            <a:endParaRPr sz="1000">
              <a:latin typeface="Calibri"/>
              <a:cs typeface="Calibri"/>
            </a:endParaRPr>
          </a:p>
          <a:p>
            <a:pPr marL="2904490" marR="213360" indent="-125730">
              <a:lnSpc>
                <a:spcPct val="114599"/>
              </a:lnSpc>
              <a:spcBef>
                <a:spcPts val="300"/>
              </a:spcBef>
              <a:buFont typeface="Calibri"/>
              <a:buChar char="•"/>
              <a:tabLst>
                <a:tab pos="2905760" algn="l"/>
              </a:tabLst>
            </a:pPr>
            <a:r>
              <a:rPr dirty="0" sz="1000" b="1">
                <a:solidFill>
                  <a:srgbClr val="22373A"/>
                </a:solidFill>
                <a:latin typeface="Calibri"/>
                <a:cs typeface="Calibri"/>
              </a:rPr>
              <a:t>Alerte</a:t>
            </a:r>
            <a:r>
              <a:rPr dirty="0" sz="1000" spc="26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2373A"/>
                </a:solidFill>
                <a:latin typeface="Calibri"/>
                <a:cs typeface="Calibri"/>
              </a:rPr>
              <a:t>Intrusion</a:t>
            </a:r>
            <a:r>
              <a:rPr dirty="0" sz="1000" spc="26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2373A"/>
                </a:solidFill>
                <a:latin typeface="Calibri"/>
                <a:cs typeface="Calibri"/>
              </a:rPr>
              <a:t>:</a:t>
            </a:r>
            <a:r>
              <a:rPr dirty="0" sz="1000" spc="22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Buzzer</a:t>
            </a:r>
            <a:r>
              <a:rPr dirty="0" sz="1000" spc="22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piézoélectrique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	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sur</a:t>
            </a:r>
            <a:r>
              <a:rPr dirty="0" sz="1000" spc="9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55">
                <a:solidFill>
                  <a:srgbClr val="22373A"/>
                </a:solidFill>
                <a:latin typeface="Calibri"/>
                <a:cs typeface="Calibri"/>
              </a:rPr>
              <a:t>GPIO</a:t>
            </a:r>
            <a:r>
              <a:rPr dirty="0" sz="1000" spc="9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Calibri"/>
                <a:cs typeface="Calibri"/>
              </a:rPr>
              <a:t>21.</a:t>
            </a:r>
            <a:endParaRPr sz="1000">
              <a:latin typeface="Calibri"/>
              <a:cs typeface="Calibri"/>
            </a:endParaRPr>
          </a:p>
          <a:p>
            <a:pPr marL="2652395" marR="392430">
              <a:lnSpc>
                <a:spcPct val="114599"/>
              </a:lnSpc>
              <a:spcBef>
                <a:spcPts val="295"/>
              </a:spcBef>
            </a:pP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Le</a:t>
            </a:r>
            <a:r>
              <a:rPr dirty="0" sz="1000" spc="7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firmware</a:t>
            </a:r>
            <a:r>
              <a:rPr dirty="0" sz="1000" spc="7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en</a:t>
            </a:r>
            <a:r>
              <a:rPr dirty="0" sz="1000" spc="7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210">
                <a:solidFill>
                  <a:srgbClr val="22373A"/>
                </a:solidFill>
                <a:latin typeface="Calibri"/>
                <a:cs typeface="Calibri"/>
              </a:rPr>
              <a:t>C++</a:t>
            </a:r>
            <a:r>
              <a:rPr dirty="0" sz="1000" spc="7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gère</a:t>
            </a:r>
            <a:r>
              <a:rPr dirty="0" sz="1000" spc="7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la</a:t>
            </a:r>
            <a:r>
              <a:rPr dirty="0" sz="1000" spc="7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connexion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automatique</a:t>
            </a:r>
            <a:r>
              <a:rPr dirty="0" sz="1000" spc="8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au</a:t>
            </a:r>
            <a:r>
              <a:rPr dirty="0" sz="1000" spc="8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WiFi</a:t>
            </a:r>
            <a:r>
              <a:rPr dirty="0" sz="1000" spc="8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et</a:t>
            </a:r>
            <a:r>
              <a:rPr dirty="0" sz="1000" spc="8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le</a:t>
            </a:r>
            <a:r>
              <a:rPr dirty="0" sz="1000" spc="8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maintien</a:t>
            </a:r>
            <a:r>
              <a:rPr dirty="0" sz="1000" spc="8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du</a:t>
            </a:r>
            <a:r>
              <a:rPr dirty="0" sz="1000" spc="8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Calibri"/>
                <a:cs typeface="Calibri"/>
              </a:rPr>
              <a:t>lien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avec</a:t>
            </a:r>
            <a:r>
              <a:rPr dirty="0" sz="1000" spc="5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le</a:t>
            </a:r>
            <a:r>
              <a:rPr dirty="0" sz="1000" spc="5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broker</a:t>
            </a:r>
            <a:r>
              <a:rPr dirty="0" sz="1000" spc="5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110">
                <a:solidFill>
                  <a:srgbClr val="22373A"/>
                </a:solidFill>
                <a:latin typeface="Calibri"/>
                <a:cs typeface="Calibri"/>
              </a:rPr>
              <a:t>MQTT</a:t>
            </a:r>
            <a:r>
              <a:rPr dirty="0" sz="1000" spc="5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pour</a:t>
            </a:r>
            <a:r>
              <a:rPr dirty="0" sz="1000" spc="5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une</a:t>
            </a:r>
            <a:r>
              <a:rPr dirty="0" sz="1000" spc="5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réactivité optimale.</a:t>
            </a:r>
            <a:endParaRPr sz="10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  <a:spcBef>
                <a:spcPts val="1215"/>
              </a:spcBef>
            </a:pPr>
            <a:r>
              <a:rPr dirty="0" sz="700" spc="-50">
                <a:solidFill>
                  <a:srgbClr val="22373A"/>
                </a:solidFill>
                <a:latin typeface="Calibri"/>
                <a:cs typeface="Calibri"/>
              </a:rPr>
              <a:t>5</a:t>
            </a:r>
            <a:endParaRPr sz="700"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50"/>
              <a:t>3.2</a:t>
            </a:r>
            <a:r>
              <a:rPr dirty="0" spc="290"/>
              <a:t> </a:t>
            </a:r>
            <a:r>
              <a:rPr dirty="0" spc="45"/>
              <a:t>Analyse</a:t>
            </a:r>
            <a:r>
              <a:rPr dirty="0" spc="295"/>
              <a:t> </a:t>
            </a:r>
            <a:r>
              <a:rPr dirty="0"/>
              <a:t>par</a:t>
            </a:r>
            <a:r>
              <a:rPr dirty="0" spc="295"/>
              <a:t> </a:t>
            </a:r>
            <a:r>
              <a:rPr dirty="0"/>
              <a:t>Vision</a:t>
            </a:r>
            <a:r>
              <a:rPr dirty="0" spc="295"/>
              <a:t> </a:t>
            </a:r>
            <a:r>
              <a:rPr dirty="0"/>
              <a:t>avec</a:t>
            </a:r>
            <a:r>
              <a:rPr dirty="0" spc="295"/>
              <a:t> </a:t>
            </a:r>
            <a:r>
              <a:rPr dirty="0" spc="100"/>
              <a:t>OpenCV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869651"/>
            <a:ext cx="5050155" cy="15614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67945">
              <a:lnSpc>
                <a:spcPct val="114599"/>
              </a:lnSpc>
              <a:spcBef>
                <a:spcPts val="100"/>
              </a:spcBef>
            </a:pP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Le</a:t>
            </a:r>
            <a:r>
              <a:rPr dirty="0" sz="1000" spc="6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module</a:t>
            </a:r>
            <a:r>
              <a:rPr dirty="0" sz="1000" spc="6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de</a:t>
            </a:r>
            <a:r>
              <a:rPr dirty="0" sz="1000" spc="6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vision</a:t>
            </a:r>
            <a:r>
              <a:rPr dirty="0" sz="1000" spc="6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est</a:t>
            </a:r>
            <a:r>
              <a:rPr dirty="0" sz="1000" spc="6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le</a:t>
            </a:r>
            <a:r>
              <a:rPr dirty="0" sz="1000" spc="6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"cerveau"</a:t>
            </a:r>
            <a:r>
              <a:rPr dirty="0" sz="1000" spc="6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du</a:t>
            </a:r>
            <a:r>
              <a:rPr dirty="0" sz="1000" spc="6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projet.</a:t>
            </a:r>
            <a:r>
              <a:rPr dirty="0" sz="1000" spc="6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Il</a:t>
            </a:r>
            <a:r>
              <a:rPr dirty="0" sz="1000" spc="6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effectue</a:t>
            </a:r>
            <a:r>
              <a:rPr dirty="0" sz="1000" spc="6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deux</a:t>
            </a:r>
            <a:r>
              <a:rPr dirty="0" sz="1000" spc="6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types</a:t>
            </a:r>
            <a:r>
              <a:rPr dirty="0" sz="1000" spc="6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d’analyses</a:t>
            </a:r>
            <a:r>
              <a:rPr dirty="0" sz="1000" spc="6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sur</a:t>
            </a:r>
            <a:r>
              <a:rPr dirty="0" sz="1000" spc="6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une</a:t>
            </a:r>
            <a:r>
              <a:rPr dirty="0" sz="1000" spc="6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Calibri"/>
                <a:cs typeface="Calibri"/>
              </a:rPr>
              <a:t>Zone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d’Intérêt</a:t>
            </a:r>
            <a:r>
              <a:rPr dirty="0" sz="1000" spc="6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70">
                <a:solidFill>
                  <a:srgbClr val="22373A"/>
                </a:solidFill>
                <a:latin typeface="Calibri"/>
                <a:cs typeface="Calibri"/>
              </a:rPr>
              <a:t>(ROI) </a:t>
            </a:r>
            <a:r>
              <a:rPr dirty="0" sz="1000" spc="-50">
                <a:solidFill>
                  <a:srgbClr val="22373A"/>
                </a:solidFill>
                <a:latin typeface="Calibri"/>
                <a:cs typeface="Calibri"/>
              </a:rPr>
              <a:t>:</a:t>
            </a:r>
            <a:endParaRPr sz="1000">
              <a:latin typeface="Calibri"/>
              <a:cs typeface="Calibri"/>
            </a:endParaRPr>
          </a:p>
          <a:p>
            <a:pPr marL="264160" marR="5080" indent="-125730">
              <a:lnSpc>
                <a:spcPct val="114599"/>
              </a:lnSpc>
              <a:spcBef>
                <a:spcPts val="795"/>
              </a:spcBef>
              <a:buFont typeface="Calibri"/>
              <a:buChar char="•"/>
              <a:tabLst>
                <a:tab pos="265430" algn="l"/>
              </a:tabLst>
            </a:pPr>
            <a:r>
              <a:rPr dirty="0" sz="1000" b="1">
                <a:solidFill>
                  <a:srgbClr val="22373A"/>
                </a:solidFill>
                <a:latin typeface="Calibri"/>
                <a:cs typeface="Calibri"/>
              </a:rPr>
              <a:t>Détection</a:t>
            </a:r>
            <a:r>
              <a:rPr dirty="0" sz="1000" spc="185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2373A"/>
                </a:solidFill>
                <a:latin typeface="Calibri"/>
                <a:cs typeface="Calibri"/>
              </a:rPr>
              <a:t>de</a:t>
            </a:r>
            <a:r>
              <a:rPr dirty="0" sz="1000" spc="185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2373A"/>
                </a:solidFill>
                <a:latin typeface="Calibri"/>
                <a:cs typeface="Calibri"/>
              </a:rPr>
              <a:t>Remplissage</a:t>
            </a:r>
            <a:r>
              <a:rPr dirty="0" sz="1000" spc="185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2373A"/>
                </a:solidFill>
                <a:latin typeface="Calibri"/>
                <a:cs typeface="Calibri"/>
              </a:rPr>
              <a:t>:</a:t>
            </a:r>
            <a:r>
              <a:rPr dirty="0" sz="1000" spc="15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Le</a:t>
            </a:r>
            <a:r>
              <a:rPr dirty="0" sz="1000" spc="15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script</a:t>
            </a:r>
            <a:r>
              <a:rPr dirty="0" sz="1000" spc="15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calcule</a:t>
            </a:r>
            <a:r>
              <a:rPr dirty="0" sz="1000" spc="15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la</a:t>
            </a:r>
            <a:r>
              <a:rPr dirty="0" sz="1000" spc="15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luminosité</a:t>
            </a:r>
            <a:r>
              <a:rPr dirty="0" sz="1000" spc="15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Calibri"/>
                <a:cs typeface="Calibri"/>
              </a:rPr>
              <a:t>moyenne</a:t>
            </a:r>
            <a:r>
              <a:rPr dirty="0" sz="1000" spc="15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de</a:t>
            </a:r>
            <a:r>
              <a:rPr dirty="0" sz="1000" spc="15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la</a:t>
            </a:r>
            <a:r>
              <a:rPr dirty="0" sz="1000" spc="15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zone.</a:t>
            </a:r>
            <a:r>
              <a:rPr dirty="0" sz="1000" spc="15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Si</a:t>
            </a:r>
            <a:r>
              <a:rPr dirty="0" sz="1000" spc="15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Calibri"/>
                <a:cs typeface="Calibri"/>
              </a:rPr>
              <a:t>la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 	densité</a:t>
            </a:r>
            <a:r>
              <a:rPr dirty="0" sz="1000" spc="6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de</a:t>
            </a:r>
            <a:r>
              <a:rPr dirty="0" sz="1000" spc="6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pixels</a:t>
            </a:r>
            <a:r>
              <a:rPr dirty="0" sz="1000" spc="6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Calibri"/>
                <a:cs typeface="Calibri"/>
              </a:rPr>
              <a:t>sombres</a:t>
            </a:r>
            <a:r>
              <a:rPr dirty="0" sz="1000" spc="6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augmente</a:t>
            </a:r>
            <a:r>
              <a:rPr dirty="0" sz="1000" spc="6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au-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delà</a:t>
            </a:r>
            <a:r>
              <a:rPr dirty="0" sz="1000" spc="6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d’un</a:t>
            </a:r>
            <a:r>
              <a:rPr dirty="0" sz="1000" spc="6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seuil,</a:t>
            </a:r>
            <a:r>
              <a:rPr dirty="0" sz="1000" spc="6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le</a:t>
            </a:r>
            <a:r>
              <a:rPr dirty="0" sz="1000" spc="6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système</a:t>
            </a:r>
            <a:r>
              <a:rPr dirty="0" sz="1000" spc="6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considère</a:t>
            </a:r>
            <a:r>
              <a:rPr dirty="0" sz="1000" spc="6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le</a:t>
            </a:r>
            <a:r>
              <a:rPr dirty="0" sz="1000" spc="6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bac</a:t>
            </a:r>
            <a:r>
              <a:rPr dirty="0" sz="1000" spc="6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comme 	plein.</a:t>
            </a:r>
            <a:endParaRPr sz="1000">
              <a:latin typeface="Calibri"/>
              <a:cs typeface="Calibri"/>
            </a:endParaRPr>
          </a:p>
          <a:p>
            <a:pPr marL="264160" marR="160655" indent="-125730">
              <a:lnSpc>
                <a:spcPct val="114599"/>
              </a:lnSpc>
              <a:spcBef>
                <a:spcPts val="300"/>
              </a:spcBef>
              <a:buFont typeface="Calibri"/>
              <a:buChar char="•"/>
              <a:tabLst>
                <a:tab pos="265430" algn="l"/>
              </a:tabLst>
            </a:pPr>
            <a:r>
              <a:rPr dirty="0" sz="1000" spc="10" b="1">
                <a:solidFill>
                  <a:srgbClr val="22373A"/>
                </a:solidFill>
                <a:latin typeface="Calibri"/>
                <a:cs typeface="Calibri"/>
              </a:rPr>
              <a:t>Détection</a:t>
            </a:r>
            <a:r>
              <a:rPr dirty="0" sz="1000" spc="155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10" b="1">
                <a:solidFill>
                  <a:srgbClr val="22373A"/>
                </a:solidFill>
                <a:latin typeface="Calibri"/>
                <a:cs typeface="Calibri"/>
              </a:rPr>
              <a:t>de</a:t>
            </a:r>
            <a:r>
              <a:rPr dirty="0" sz="1000" spc="16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10" b="1">
                <a:solidFill>
                  <a:srgbClr val="22373A"/>
                </a:solidFill>
                <a:latin typeface="Calibri"/>
                <a:cs typeface="Calibri"/>
              </a:rPr>
              <a:t>Mouvement</a:t>
            </a:r>
            <a:r>
              <a:rPr dirty="0" sz="1000" spc="16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10" b="1">
                <a:solidFill>
                  <a:srgbClr val="22373A"/>
                </a:solidFill>
                <a:latin typeface="Calibri"/>
                <a:cs typeface="Calibri"/>
              </a:rPr>
              <a:t>:</a:t>
            </a:r>
            <a:r>
              <a:rPr dirty="0" sz="1000" spc="125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10">
                <a:solidFill>
                  <a:srgbClr val="22373A"/>
                </a:solidFill>
                <a:latin typeface="Calibri"/>
                <a:cs typeface="Calibri"/>
              </a:rPr>
              <a:t>En</a:t>
            </a:r>
            <a:r>
              <a:rPr dirty="0" sz="1000" spc="12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10">
                <a:solidFill>
                  <a:srgbClr val="22373A"/>
                </a:solidFill>
                <a:latin typeface="Calibri"/>
                <a:cs typeface="Calibri"/>
              </a:rPr>
              <a:t>utilisant</a:t>
            </a:r>
            <a:r>
              <a:rPr dirty="0" sz="1000" spc="13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10">
                <a:solidFill>
                  <a:srgbClr val="22373A"/>
                </a:solidFill>
                <a:latin typeface="Calibri"/>
                <a:cs typeface="Calibri"/>
              </a:rPr>
              <a:t>la</a:t>
            </a:r>
            <a:r>
              <a:rPr dirty="0" sz="1000" spc="12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soustraction</a:t>
            </a:r>
            <a:r>
              <a:rPr dirty="0" sz="1000" spc="13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10">
                <a:solidFill>
                  <a:srgbClr val="22373A"/>
                </a:solidFill>
                <a:latin typeface="Calibri"/>
                <a:cs typeface="Calibri"/>
              </a:rPr>
              <a:t>de</a:t>
            </a:r>
            <a:r>
              <a:rPr dirty="0" sz="1000" spc="12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frames</a:t>
            </a:r>
            <a:r>
              <a:rPr dirty="0" sz="1000" spc="12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70">
                <a:solidFill>
                  <a:srgbClr val="22373A"/>
                </a:solidFill>
                <a:latin typeface="Calibri"/>
                <a:cs typeface="Calibri"/>
              </a:rPr>
              <a:t>(</a:t>
            </a:r>
            <a:r>
              <a:rPr dirty="0" sz="1000" spc="70">
                <a:solidFill>
                  <a:srgbClr val="22373A"/>
                </a:solidFill>
                <a:latin typeface="Georgia"/>
                <a:cs typeface="Georgia"/>
              </a:rPr>
              <a:t>cv2.absdiff</a:t>
            </a:r>
            <a:r>
              <a:rPr dirty="0" sz="1000" spc="70">
                <a:solidFill>
                  <a:srgbClr val="22373A"/>
                </a:solidFill>
                <a:latin typeface="Calibri"/>
                <a:cs typeface="Calibri"/>
              </a:rPr>
              <a:t>),</a:t>
            </a:r>
            <a:r>
              <a:rPr dirty="0" sz="1000" spc="13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Calibri"/>
                <a:cs typeface="Calibri"/>
              </a:rPr>
              <a:t>le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 	script</a:t>
            </a:r>
            <a:r>
              <a:rPr dirty="0" sz="1000" spc="4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identifie</a:t>
            </a:r>
            <a:r>
              <a:rPr dirty="0" sz="1000" spc="4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les</a:t>
            </a:r>
            <a:r>
              <a:rPr dirty="0" sz="1000" spc="4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changements</a:t>
            </a:r>
            <a:r>
              <a:rPr dirty="0" sz="1000" spc="4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rapides</a:t>
            </a:r>
            <a:r>
              <a:rPr dirty="0" sz="1000" spc="4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entre</a:t>
            </a:r>
            <a:r>
              <a:rPr dirty="0" sz="1000" spc="4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deux</a:t>
            </a:r>
            <a:r>
              <a:rPr dirty="0" sz="1000" spc="4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images</a:t>
            </a:r>
            <a:r>
              <a:rPr dirty="0" sz="1000" spc="4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successives.</a:t>
            </a:r>
            <a:r>
              <a:rPr dirty="0" sz="1000" spc="4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Cela</a:t>
            </a:r>
            <a:r>
              <a:rPr dirty="0" sz="1000" spc="4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permet</a:t>
            </a:r>
            <a:r>
              <a:rPr dirty="0" sz="1000" spc="4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Calibri"/>
                <a:cs typeface="Calibri"/>
              </a:rPr>
              <a:t>de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 	détecter</a:t>
            </a:r>
            <a:r>
              <a:rPr dirty="0" sz="1000" spc="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l’approche</a:t>
            </a:r>
            <a:r>
              <a:rPr dirty="0" sz="1000" spc="8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d’un</a:t>
            </a:r>
            <a:r>
              <a:rPr dirty="0" sz="1000" spc="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animal</a:t>
            </a:r>
            <a:r>
              <a:rPr dirty="0" sz="1000" spc="8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et</a:t>
            </a:r>
            <a:r>
              <a:rPr dirty="0" sz="1000" spc="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de</a:t>
            </a:r>
            <a:r>
              <a:rPr dirty="0" sz="1000" spc="8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Calibri"/>
                <a:cs typeface="Calibri"/>
              </a:rPr>
              <a:t>déclencher</a:t>
            </a:r>
            <a:r>
              <a:rPr dirty="0" sz="1000" spc="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le</a:t>
            </a:r>
            <a:r>
              <a:rPr dirty="0" sz="1000" spc="8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buzzer</a:t>
            </a:r>
            <a:r>
              <a:rPr dirty="0" sz="1000" spc="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de</a:t>
            </a:r>
            <a:r>
              <a:rPr dirty="0" sz="1000" spc="8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l’ESP32</a:t>
            </a:r>
            <a:r>
              <a:rPr dirty="0" sz="1000" spc="8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pour</a:t>
            </a:r>
            <a:r>
              <a:rPr dirty="0" sz="1000" spc="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l’éloigner.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13615" y="3020659"/>
            <a:ext cx="7493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solidFill>
                  <a:srgbClr val="22373A"/>
                </a:solidFill>
                <a:latin typeface="Calibri"/>
                <a:cs typeface="Calibri"/>
              </a:rPr>
              <a:t>6</a:t>
            </a:r>
            <a:endParaRPr sz="700"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5854" y="1312529"/>
            <a:ext cx="248348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95" b="1">
                <a:solidFill>
                  <a:srgbClr val="22373A"/>
                </a:solidFill>
                <a:latin typeface="Calibri"/>
                <a:cs typeface="Calibri"/>
                <a:hlinkClick r:id="rId2" action="ppaction://hlinksldjump"/>
              </a:rPr>
              <a:t>Défis</a:t>
            </a:r>
            <a:r>
              <a:rPr dirty="0" sz="1400" spc="240" b="1">
                <a:solidFill>
                  <a:srgbClr val="22373A"/>
                </a:solidFill>
                <a:latin typeface="Calibri"/>
                <a:cs typeface="Calibri"/>
                <a:hlinkClick r:id="rId2" action="ppaction://hlinksldjump"/>
              </a:rPr>
              <a:t> </a:t>
            </a:r>
            <a:r>
              <a:rPr dirty="0" sz="1400" spc="100" b="1">
                <a:solidFill>
                  <a:srgbClr val="22373A"/>
                </a:solidFill>
                <a:latin typeface="Calibri"/>
                <a:cs typeface="Calibri"/>
                <a:hlinkClick r:id="rId2" action="ppaction://hlinksldjump"/>
              </a:rPr>
              <a:t>Techniques</a:t>
            </a:r>
            <a:r>
              <a:rPr dirty="0" sz="1400" spc="240" b="1">
                <a:solidFill>
                  <a:srgbClr val="22373A"/>
                </a:solidFill>
                <a:latin typeface="Calibri"/>
                <a:cs typeface="Calibri"/>
                <a:hlinkClick r:id="rId2" action="ppaction://hlinksldjump"/>
              </a:rPr>
              <a:t> </a:t>
            </a:r>
            <a:r>
              <a:rPr dirty="0" sz="1400" spc="70" b="1">
                <a:solidFill>
                  <a:srgbClr val="22373A"/>
                </a:solidFill>
                <a:latin typeface="Calibri"/>
                <a:cs typeface="Calibri"/>
                <a:hlinkClick r:id="rId2" action="ppaction://hlinksldjump"/>
              </a:rPr>
              <a:t>et</a:t>
            </a:r>
            <a:r>
              <a:rPr dirty="0" sz="1400" spc="240" b="1">
                <a:solidFill>
                  <a:srgbClr val="22373A"/>
                </a:solidFill>
                <a:latin typeface="Calibri"/>
                <a:cs typeface="Calibri"/>
                <a:hlinkClick r:id="rId2" action="ppaction://hlinksldjump"/>
              </a:rPr>
              <a:t> </a:t>
            </a:r>
            <a:r>
              <a:rPr dirty="0" sz="1400" spc="80" b="1">
                <a:solidFill>
                  <a:srgbClr val="22373A"/>
                </a:solidFill>
                <a:latin typeface="Calibri"/>
                <a:cs typeface="Calibri"/>
                <a:hlinkClick r:id="rId2" action="ppaction://hlinksldjump"/>
              </a:rPr>
              <a:t>Analyse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488554" y="1682032"/>
            <a:ext cx="2783205" cy="5080"/>
            <a:chOff x="1488554" y="1682032"/>
            <a:chExt cx="2783205" cy="5080"/>
          </a:xfrm>
        </p:grpSpPr>
        <p:sp>
          <p:nvSpPr>
            <p:cNvPr id="4" name="object 4"/>
            <p:cNvSpPr/>
            <p:nvPr/>
          </p:nvSpPr>
          <p:spPr>
            <a:xfrm>
              <a:off x="1488554" y="1682032"/>
              <a:ext cx="2783205" cy="5080"/>
            </a:xfrm>
            <a:custGeom>
              <a:avLst/>
              <a:gdLst/>
              <a:ahLst/>
              <a:cxnLst/>
              <a:rect l="l" t="t" r="r" b="b"/>
              <a:pathLst>
                <a:path w="2783204" h="5080">
                  <a:moveTo>
                    <a:pt x="0" y="5060"/>
                  </a:moveTo>
                  <a:lnTo>
                    <a:pt x="0" y="0"/>
                  </a:lnTo>
                  <a:lnTo>
                    <a:pt x="2782917" y="0"/>
                  </a:lnTo>
                  <a:lnTo>
                    <a:pt x="278291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488554" y="1682032"/>
              <a:ext cx="2087245" cy="5080"/>
            </a:xfrm>
            <a:custGeom>
              <a:avLst/>
              <a:gdLst/>
              <a:ahLst/>
              <a:cxnLst/>
              <a:rect l="l" t="t" r="r" b="b"/>
              <a:pathLst>
                <a:path w="2087245" h="5080">
                  <a:moveTo>
                    <a:pt x="0" y="5060"/>
                  </a:moveTo>
                  <a:lnTo>
                    <a:pt x="0" y="0"/>
                  </a:lnTo>
                  <a:lnTo>
                    <a:pt x="2087188" y="0"/>
                  </a:lnTo>
                  <a:lnTo>
                    <a:pt x="208718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2D7D0A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50"/>
              <a:t>4.1</a:t>
            </a:r>
            <a:r>
              <a:rPr dirty="0" spc="200"/>
              <a:t> </a:t>
            </a:r>
            <a:r>
              <a:rPr dirty="0" spc="45"/>
              <a:t>Analyse</a:t>
            </a:r>
            <a:r>
              <a:rPr dirty="0" spc="204"/>
              <a:t> </a:t>
            </a:r>
            <a:r>
              <a:rPr dirty="0"/>
              <a:t>des</a:t>
            </a:r>
            <a:r>
              <a:rPr dirty="0" spc="204"/>
              <a:t> </a:t>
            </a:r>
            <a:r>
              <a:rPr dirty="0" spc="55"/>
              <a:t>Défis</a:t>
            </a:r>
            <a:r>
              <a:rPr dirty="0" spc="204"/>
              <a:t> </a:t>
            </a:r>
            <a:r>
              <a:rPr dirty="0" spc="50"/>
              <a:t>Techniques</a:t>
            </a:r>
            <a:r>
              <a:rPr dirty="0" spc="204"/>
              <a:t> </a:t>
            </a:r>
            <a:r>
              <a:rPr dirty="0" spc="40"/>
              <a:t>Rencontrés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498594"/>
            <a:ext cx="5340985" cy="26543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55">
                <a:solidFill>
                  <a:srgbClr val="22373A"/>
                </a:solidFill>
                <a:latin typeface="Calibri"/>
                <a:cs typeface="Calibri"/>
              </a:rPr>
              <a:t>La</a:t>
            </a:r>
            <a:r>
              <a:rPr dirty="0" sz="1000" spc="7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mise</a:t>
            </a:r>
            <a:r>
              <a:rPr dirty="0" sz="1000" spc="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au</a:t>
            </a:r>
            <a:r>
              <a:rPr dirty="0" sz="1000" spc="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point</a:t>
            </a:r>
            <a:r>
              <a:rPr dirty="0" sz="1000" spc="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de</a:t>
            </a:r>
            <a:r>
              <a:rPr dirty="0" sz="1000" spc="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TrashTracker</a:t>
            </a:r>
            <a:r>
              <a:rPr dirty="0" sz="1000" spc="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a</a:t>
            </a:r>
            <a:r>
              <a:rPr dirty="0" sz="1000" spc="7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soulevé</a:t>
            </a:r>
            <a:r>
              <a:rPr dirty="0" sz="1000" spc="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des</a:t>
            </a:r>
            <a:r>
              <a:rPr dirty="0" sz="1000" spc="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problématiques</a:t>
            </a:r>
            <a:r>
              <a:rPr dirty="0" sz="1000" spc="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d’ingénierie</a:t>
            </a:r>
            <a:r>
              <a:rPr dirty="0" sz="1000" spc="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concrètes</a:t>
            </a:r>
            <a:r>
              <a:rPr dirty="0" sz="1000" spc="7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50">
                <a:solidFill>
                  <a:srgbClr val="22373A"/>
                </a:solidFill>
                <a:latin typeface="Calibri"/>
                <a:cs typeface="Calibri"/>
              </a:rPr>
              <a:t>:</a:t>
            </a:r>
            <a:endParaRPr sz="1000">
              <a:latin typeface="Calibri"/>
              <a:cs typeface="Calibri"/>
            </a:endParaRPr>
          </a:p>
          <a:p>
            <a:pPr marL="264160" marR="279400" indent="-125730">
              <a:lnSpc>
                <a:spcPct val="105000"/>
              </a:lnSpc>
              <a:spcBef>
                <a:spcPts val="795"/>
              </a:spcBef>
              <a:buFont typeface="Calibri"/>
              <a:buChar char="•"/>
              <a:tabLst>
                <a:tab pos="265430" algn="l"/>
              </a:tabLst>
            </a:pPr>
            <a:r>
              <a:rPr dirty="0" sz="1000" b="1">
                <a:solidFill>
                  <a:srgbClr val="22373A"/>
                </a:solidFill>
                <a:latin typeface="Calibri"/>
                <a:cs typeface="Calibri"/>
              </a:rPr>
              <a:t>Instabilité</a:t>
            </a:r>
            <a:r>
              <a:rPr dirty="0" sz="1000" spc="155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2373A"/>
                </a:solidFill>
                <a:latin typeface="Calibri"/>
                <a:cs typeface="Calibri"/>
              </a:rPr>
              <a:t>de</a:t>
            </a:r>
            <a:r>
              <a:rPr dirty="0" sz="1000" spc="155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2373A"/>
                </a:solidFill>
                <a:latin typeface="Calibri"/>
                <a:cs typeface="Calibri"/>
              </a:rPr>
              <a:t>l’éclairage</a:t>
            </a:r>
            <a:r>
              <a:rPr dirty="0" sz="1000" spc="155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2373A"/>
                </a:solidFill>
                <a:latin typeface="Calibri"/>
                <a:cs typeface="Calibri"/>
              </a:rPr>
              <a:t>ambiant</a:t>
            </a:r>
            <a:r>
              <a:rPr dirty="0" sz="1000" spc="155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2373A"/>
                </a:solidFill>
                <a:latin typeface="Calibri"/>
                <a:cs typeface="Calibri"/>
              </a:rPr>
              <a:t>:</a:t>
            </a:r>
            <a:r>
              <a:rPr dirty="0" sz="1000" spc="125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Les</a:t>
            </a:r>
            <a:r>
              <a:rPr dirty="0" sz="1000" spc="12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variations</a:t>
            </a:r>
            <a:r>
              <a:rPr dirty="0" sz="1000" spc="12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de</a:t>
            </a:r>
            <a:r>
              <a:rPr dirty="0" sz="1000" spc="12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lumière</a:t>
            </a:r>
            <a:r>
              <a:rPr dirty="0" sz="1000" spc="12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naturelle</a:t>
            </a:r>
            <a:r>
              <a:rPr dirty="0" sz="1000" spc="12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peuvent</a:t>
            </a:r>
            <a:r>
              <a:rPr dirty="0" sz="1000" spc="12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fausser</a:t>
            </a:r>
            <a:r>
              <a:rPr dirty="0" sz="1000" spc="12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Calibri"/>
                <a:cs typeface="Calibri"/>
              </a:rPr>
              <a:t>la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 	détection</a:t>
            </a:r>
            <a:r>
              <a:rPr dirty="0" sz="1000" spc="5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de</a:t>
            </a:r>
            <a:r>
              <a:rPr dirty="0" sz="1000" spc="5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remplissage</a:t>
            </a:r>
            <a:r>
              <a:rPr dirty="0" sz="1000" spc="6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basée</a:t>
            </a:r>
            <a:r>
              <a:rPr dirty="0" sz="1000" spc="5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sur</a:t>
            </a:r>
            <a:r>
              <a:rPr dirty="0" sz="1000" spc="6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la</a:t>
            </a:r>
            <a:r>
              <a:rPr dirty="0" sz="1000" spc="5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luminosité.</a:t>
            </a:r>
            <a:endParaRPr sz="1000">
              <a:latin typeface="Calibri"/>
              <a:cs typeface="Calibri"/>
            </a:endParaRPr>
          </a:p>
          <a:p>
            <a:pPr lvl="1" marL="517525" marR="584835" indent="-120650">
              <a:lnSpc>
                <a:spcPct val="116700"/>
              </a:lnSpc>
              <a:spcBef>
                <a:spcPts val="180"/>
              </a:spcBef>
              <a:buFont typeface="Calibri"/>
              <a:buChar char="•"/>
              <a:tabLst>
                <a:tab pos="518795" algn="l"/>
              </a:tabLst>
            </a:pPr>
            <a:r>
              <a:rPr dirty="0" sz="900" i="1">
                <a:solidFill>
                  <a:srgbClr val="22373A"/>
                </a:solidFill>
                <a:latin typeface="Calibri"/>
                <a:cs typeface="Calibri"/>
              </a:rPr>
              <a:t>Solution</a:t>
            </a:r>
            <a:r>
              <a:rPr dirty="0" sz="900" spc="90" i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2373A"/>
                </a:solidFill>
                <a:latin typeface="Calibri"/>
                <a:cs typeface="Calibri"/>
              </a:rPr>
              <a:t>:</a:t>
            </a:r>
            <a:r>
              <a:rPr dirty="0" sz="900" spc="114" i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Implémentation</a:t>
            </a:r>
            <a:r>
              <a:rPr dirty="0" sz="900" spc="9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d’un</a:t>
            </a:r>
            <a:r>
              <a:rPr dirty="0" sz="900" spc="9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filtre</a:t>
            </a:r>
            <a:r>
              <a:rPr dirty="0" sz="900" spc="9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de</a:t>
            </a:r>
            <a:r>
              <a:rPr dirty="0" sz="900" spc="9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lissage</a:t>
            </a:r>
            <a:r>
              <a:rPr dirty="0" sz="900" spc="9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(moyenne</a:t>
            </a:r>
            <a:r>
              <a:rPr dirty="0" sz="900" spc="1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glissante)</a:t>
            </a:r>
            <a:r>
              <a:rPr dirty="0" sz="900" spc="9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pour</a:t>
            </a:r>
            <a:r>
              <a:rPr dirty="0" sz="900" spc="9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ne</a:t>
            </a:r>
            <a:r>
              <a:rPr dirty="0" sz="900" spc="9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valider</a:t>
            </a:r>
            <a:r>
              <a:rPr dirty="0" sz="900" spc="9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Calibri"/>
                <a:cs typeface="Calibri"/>
              </a:rPr>
              <a:t>un</a:t>
            </a:r>
            <a:r>
              <a:rPr dirty="0" sz="900" spc="5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 spc="500">
                <a:solidFill>
                  <a:srgbClr val="22373A"/>
                </a:solidFill>
                <a:latin typeface="Calibri"/>
                <a:cs typeface="Calibri"/>
              </a:rPr>
              <a:t>	</a:t>
            </a: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changement</a:t>
            </a:r>
            <a:r>
              <a:rPr dirty="0" sz="900" spc="1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de</a:t>
            </a:r>
            <a:r>
              <a:rPr dirty="0" sz="900" spc="10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statut</a:t>
            </a:r>
            <a:r>
              <a:rPr dirty="0" sz="900" spc="1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que</a:t>
            </a:r>
            <a:r>
              <a:rPr dirty="0" sz="900" spc="11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s’il</a:t>
            </a:r>
            <a:r>
              <a:rPr dirty="0" sz="900" spc="10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est</a:t>
            </a:r>
            <a:r>
              <a:rPr dirty="0" sz="900" spc="10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persistant</a:t>
            </a:r>
            <a:r>
              <a:rPr dirty="0" sz="900" spc="10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sur</a:t>
            </a:r>
            <a:r>
              <a:rPr dirty="0" sz="900" spc="10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plusieurs</a:t>
            </a:r>
            <a:r>
              <a:rPr dirty="0" sz="900" spc="10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Calibri"/>
                <a:cs typeface="Calibri"/>
              </a:rPr>
              <a:t>secondes.</a:t>
            </a:r>
            <a:endParaRPr sz="900">
              <a:latin typeface="Calibri"/>
              <a:cs typeface="Calibri"/>
            </a:endParaRPr>
          </a:p>
          <a:p>
            <a:pPr marL="264160" marR="280035" indent="-125730">
              <a:lnSpc>
                <a:spcPct val="105000"/>
              </a:lnSpc>
              <a:spcBef>
                <a:spcPts val="320"/>
              </a:spcBef>
              <a:buFont typeface="Calibri"/>
              <a:buChar char="•"/>
              <a:tabLst>
                <a:tab pos="265430" algn="l"/>
              </a:tabLst>
            </a:pPr>
            <a:r>
              <a:rPr dirty="0" sz="1000" b="1">
                <a:solidFill>
                  <a:srgbClr val="22373A"/>
                </a:solidFill>
                <a:latin typeface="Calibri"/>
                <a:cs typeface="Calibri"/>
              </a:rPr>
              <a:t>Gestion</a:t>
            </a:r>
            <a:r>
              <a:rPr dirty="0" sz="1000" spc="13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2373A"/>
                </a:solidFill>
                <a:latin typeface="Calibri"/>
                <a:cs typeface="Calibri"/>
              </a:rPr>
              <a:t>de</a:t>
            </a:r>
            <a:r>
              <a:rPr dirty="0" sz="1000" spc="13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2373A"/>
                </a:solidFill>
                <a:latin typeface="Calibri"/>
                <a:cs typeface="Calibri"/>
              </a:rPr>
              <a:t>la</a:t>
            </a:r>
            <a:r>
              <a:rPr dirty="0" sz="1000" spc="13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2373A"/>
                </a:solidFill>
                <a:latin typeface="Calibri"/>
                <a:cs typeface="Calibri"/>
              </a:rPr>
              <a:t>latence</a:t>
            </a:r>
            <a:r>
              <a:rPr dirty="0" sz="1000" spc="13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2373A"/>
                </a:solidFill>
                <a:latin typeface="Calibri"/>
                <a:cs typeface="Calibri"/>
              </a:rPr>
              <a:t>réseau</a:t>
            </a:r>
            <a:r>
              <a:rPr dirty="0" sz="1000" spc="13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2373A"/>
                </a:solidFill>
                <a:latin typeface="Calibri"/>
                <a:cs typeface="Calibri"/>
              </a:rPr>
              <a:t>:</a:t>
            </a:r>
            <a:r>
              <a:rPr dirty="0" sz="1000" spc="10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Un</a:t>
            </a:r>
            <a:r>
              <a:rPr dirty="0" sz="1000" spc="9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délai</a:t>
            </a:r>
            <a:r>
              <a:rPr dirty="0" sz="1000" spc="1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trop</a:t>
            </a:r>
            <a:r>
              <a:rPr dirty="0" sz="1000" spc="1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long</a:t>
            </a:r>
            <a:r>
              <a:rPr dirty="0" sz="1000" spc="1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entre</a:t>
            </a:r>
            <a:r>
              <a:rPr dirty="0" sz="1000" spc="1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la</a:t>
            </a:r>
            <a:r>
              <a:rPr dirty="0" sz="1000" spc="1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détection</a:t>
            </a:r>
            <a:r>
              <a:rPr dirty="0" sz="1000" spc="1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et</a:t>
            </a:r>
            <a:r>
              <a:rPr dirty="0" sz="1000" spc="1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l’alerte</a:t>
            </a:r>
            <a:r>
              <a:rPr dirty="0" sz="1000" spc="9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rendrait</a:t>
            </a:r>
            <a:r>
              <a:rPr dirty="0" sz="1000" spc="1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Calibri"/>
                <a:cs typeface="Calibri"/>
              </a:rPr>
              <a:t>le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 	buzzer</a:t>
            </a:r>
            <a:r>
              <a:rPr dirty="0" sz="1000" spc="5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inefficace</a:t>
            </a:r>
            <a:r>
              <a:rPr dirty="0" sz="1000" spc="5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contre</a:t>
            </a:r>
            <a:r>
              <a:rPr dirty="0" sz="1000" spc="5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les</a:t>
            </a:r>
            <a:r>
              <a:rPr dirty="0" sz="1000" spc="5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animaux.</a:t>
            </a:r>
            <a:endParaRPr sz="1000">
              <a:latin typeface="Calibri"/>
              <a:cs typeface="Calibri"/>
            </a:endParaRPr>
          </a:p>
          <a:p>
            <a:pPr lvl="1" marL="517525" marR="566420" indent="-120650">
              <a:lnSpc>
                <a:spcPct val="116700"/>
              </a:lnSpc>
              <a:spcBef>
                <a:spcPts val="180"/>
              </a:spcBef>
              <a:buFont typeface="Calibri"/>
              <a:buChar char="•"/>
              <a:tabLst>
                <a:tab pos="518795" algn="l"/>
              </a:tabLst>
            </a:pPr>
            <a:r>
              <a:rPr dirty="0" sz="900" i="1">
                <a:solidFill>
                  <a:srgbClr val="22373A"/>
                </a:solidFill>
                <a:latin typeface="Calibri"/>
                <a:cs typeface="Calibri"/>
              </a:rPr>
              <a:t>Solution</a:t>
            </a:r>
            <a:r>
              <a:rPr dirty="0" sz="900" spc="95" i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2373A"/>
                </a:solidFill>
                <a:latin typeface="Calibri"/>
                <a:cs typeface="Calibri"/>
              </a:rPr>
              <a:t>:</a:t>
            </a:r>
            <a:r>
              <a:rPr dirty="0" sz="900" spc="125" i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Utilisation</a:t>
            </a:r>
            <a:r>
              <a:rPr dirty="0" sz="900" spc="1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du</a:t>
            </a:r>
            <a:r>
              <a:rPr dirty="0" sz="900" spc="1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protocole</a:t>
            </a:r>
            <a:r>
              <a:rPr dirty="0" sz="900" spc="1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 spc="114">
                <a:solidFill>
                  <a:srgbClr val="22373A"/>
                </a:solidFill>
                <a:latin typeface="Calibri"/>
                <a:cs typeface="Calibri"/>
              </a:rPr>
              <a:t>MQTT</a:t>
            </a:r>
            <a:r>
              <a:rPr dirty="0" sz="900" spc="10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en</a:t>
            </a:r>
            <a:r>
              <a:rPr dirty="0" sz="900" spc="9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mode</a:t>
            </a:r>
            <a:r>
              <a:rPr dirty="0" sz="900" spc="1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 spc="50">
                <a:solidFill>
                  <a:srgbClr val="22373A"/>
                </a:solidFill>
                <a:latin typeface="Calibri"/>
                <a:cs typeface="Calibri"/>
              </a:rPr>
              <a:t>QoS</a:t>
            </a:r>
            <a:r>
              <a:rPr dirty="0" sz="900" spc="10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0</a:t>
            </a:r>
            <a:r>
              <a:rPr dirty="0" sz="900" spc="1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pour</a:t>
            </a:r>
            <a:r>
              <a:rPr dirty="0" sz="900" spc="1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privilégier</a:t>
            </a:r>
            <a:r>
              <a:rPr dirty="0" sz="900" spc="1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la</a:t>
            </a:r>
            <a:r>
              <a:rPr dirty="0" sz="900" spc="10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vitesse</a:t>
            </a:r>
            <a:r>
              <a:rPr dirty="0" sz="900" spc="9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22373A"/>
                </a:solidFill>
                <a:latin typeface="Calibri"/>
                <a:cs typeface="Calibri"/>
              </a:rPr>
              <a:t>de</a:t>
            </a:r>
            <a:r>
              <a:rPr dirty="0" sz="900" spc="5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 spc="500">
                <a:solidFill>
                  <a:srgbClr val="22373A"/>
                </a:solidFill>
                <a:latin typeface="Calibri"/>
                <a:cs typeface="Calibri"/>
              </a:rPr>
              <a:t>	</a:t>
            </a: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transmission</a:t>
            </a:r>
            <a:r>
              <a:rPr dirty="0" sz="900" spc="9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par</a:t>
            </a:r>
            <a:r>
              <a:rPr dirty="0" sz="900" spc="9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rapport</a:t>
            </a:r>
            <a:r>
              <a:rPr dirty="0" sz="900" spc="1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à</a:t>
            </a:r>
            <a:r>
              <a:rPr dirty="0" sz="900" spc="9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l’accusé</a:t>
            </a:r>
            <a:r>
              <a:rPr dirty="0" sz="900" spc="1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de</a:t>
            </a:r>
            <a:r>
              <a:rPr dirty="0" sz="900" spc="1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Calibri"/>
                <a:cs typeface="Calibri"/>
              </a:rPr>
              <a:t>réception.</a:t>
            </a:r>
            <a:endParaRPr sz="900">
              <a:latin typeface="Calibri"/>
              <a:cs typeface="Calibri"/>
            </a:endParaRPr>
          </a:p>
          <a:p>
            <a:pPr marL="264160" marR="628015" indent="-125730">
              <a:lnSpc>
                <a:spcPct val="105000"/>
              </a:lnSpc>
              <a:spcBef>
                <a:spcPts val="320"/>
              </a:spcBef>
              <a:buFont typeface="Calibri"/>
              <a:buChar char="•"/>
              <a:tabLst>
                <a:tab pos="265430" algn="l"/>
              </a:tabLst>
            </a:pPr>
            <a:r>
              <a:rPr dirty="0" sz="1000" b="1">
                <a:solidFill>
                  <a:srgbClr val="22373A"/>
                </a:solidFill>
                <a:latin typeface="Calibri"/>
                <a:cs typeface="Calibri"/>
              </a:rPr>
              <a:t>Faux</a:t>
            </a:r>
            <a:r>
              <a:rPr dirty="0" sz="1000" spc="16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2373A"/>
                </a:solidFill>
                <a:latin typeface="Calibri"/>
                <a:cs typeface="Calibri"/>
              </a:rPr>
              <a:t>positifs</a:t>
            </a:r>
            <a:r>
              <a:rPr dirty="0" sz="1000" spc="16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2373A"/>
                </a:solidFill>
                <a:latin typeface="Calibri"/>
                <a:cs typeface="Calibri"/>
              </a:rPr>
              <a:t>de</a:t>
            </a:r>
            <a:r>
              <a:rPr dirty="0" sz="1000" spc="16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2373A"/>
                </a:solidFill>
                <a:latin typeface="Calibri"/>
                <a:cs typeface="Calibri"/>
              </a:rPr>
              <a:t>mouvement</a:t>
            </a:r>
            <a:r>
              <a:rPr dirty="0" sz="1000" spc="16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2373A"/>
                </a:solidFill>
                <a:latin typeface="Calibri"/>
                <a:cs typeface="Calibri"/>
              </a:rPr>
              <a:t>:</a:t>
            </a:r>
            <a:r>
              <a:rPr dirty="0" sz="1000" spc="13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Les</a:t>
            </a:r>
            <a:r>
              <a:rPr dirty="0" sz="1000" spc="13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changements</a:t>
            </a:r>
            <a:r>
              <a:rPr dirty="0" sz="1000" spc="13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de</a:t>
            </a:r>
            <a:r>
              <a:rPr dirty="0" sz="1000" spc="12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pixels</a:t>
            </a:r>
            <a:r>
              <a:rPr dirty="0" sz="1000" spc="13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dus</a:t>
            </a:r>
            <a:r>
              <a:rPr dirty="0" sz="1000" spc="13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au</a:t>
            </a:r>
            <a:r>
              <a:rPr dirty="0" sz="1000" spc="13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vent</a:t>
            </a:r>
            <a:r>
              <a:rPr dirty="0" sz="1000" spc="12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ou</a:t>
            </a:r>
            <a:r>
              <a:rPr dirty="0" sz="1000" spc="13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au</a:t>
            </a:r>
            <a:r>
              <a:rPr dirty="0" sz="1000" spc="13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bruit 	numérique</a:t>
            </a:r>
            <a:r>
              <a:rPr dirty="0" sz="1000" spc="5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de</a:t>
            </a:r>
            <a:r>
              <a:rPr dirty="0" sz="1000" spc="5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la</a:t>
            </a:r>
            <a:r>
              <a:rPr dirty="0" sz="1000" spc="5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caméra.</a:t>
            </a:r>
            <a:endParaRPr sz="1000">
              <a:latin typeface="Calibri"/>
              <a:cs typeface="Calibri"/>
            </a:endParaRPr>
          </a:p>
          <a:p>
            <a:pPr lvl="1" marL="517525" marR="280670" indent="-120650">
              <a:lnSpc>
                <a:spcPct val="116700"/>
              </a:lnSpc>
              <a:spcBef>
                <a:spcPts val="180"/>
              </a:spcBef>
              <a:buFont typeface="Calibri"/>
              <a:buChar char="•"/>
              <a:tabLst>
                <a:tab pos="518795" algn="l"/>
              </a:tabLst>
            </a:pPr>
            <a:r>
              <a:rPr dirty="0" sz="900" i="1">
                <a:solidFill>
                  <a:srgbClr val="22373A"/>
                </a:solidFill>
                <a:latin typeface="Calibri"/>
                <a:cs typeface="Calibri"/>
              </a:rPr>
              <a:t>Solution</a:t>
            </a:r>
            <a:r>
              <a:rPr dirty="0" sz="900" spc="85" i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22373A"/>
                </a:solidFill>
                <a:latin typeface="Calibri"/>
                <a:cs typeface="Calibri"/>
              </a:rPr>
              <a:t>:</a:t>
            </a:r>
            <a:r>
              <a:rPr dirty="0" sz="900" spc="105" i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Réglage</a:t>
            </a:r>
            <a:r>
              <a:rPr dirty="0" sz="900" spc="8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d’un</a:t>
            </a:r>
            <a:r>
              <a:rPr dirty="0" sz="900" spc="8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seuil</a:t>
            </a:r>
            <a:r>
              <a:rPr dirty="0" sz="900" spc="9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de</a:t>
            </a:r>
            <a:r>
              <a:rPr dirty="0" sz="900" spc="8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sensibilité</a:t>
            </a:r>
            <a:r>
              <a:rPr dirty="0" sz="900" spc="8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 spc="-60">
                <a:solidFill>
                  <a:srgbClr val="22373A"/>
                </a:solidFill>
                <a:latin typeface="Calibri"/>
                <a:cs typeface="Calibri"/>
              </a:rPr>
              <a:t>(</a:t>
            </a:r>
            <a:r>
              <a:rPr dirty="0" sz="900" spc="-60">
                <a:solidFill>
                  <a:srgbClr val="22373A"/>
                </a:solidFill>
                <a:latin typeface="Cambria"/>
                <a:cs typeface="Cambria"/>
              </a:rPr>
              <a:t>MOTION_THRESHOLD</a:t>
            </a:r>
            <a:r>
              <a:rPr dirty="0" sz="900" spc="-60">
                <a:solidFill>
                  <a:srgbClr val="22373A"/>
                </a:solidFill>
                <a:latin typeface="Calibri"/>
                <a:cs typeface="Calibri"/>
              </a:rPr>
              <a:t>)</a:t>
            </a:r>
            <a:r>
              <a:rPr dirty="0" sz="900" spc="8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calibré</a:t>
            </a:r>
            <a:r>
              <a:rPr dirty="0" sz="900" spc="8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après</a:t>
            </a:r>
            <a:r>
              <a:rPr dirty="0" sz="900" spc="8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plusieurs</a:t>
            </a:r>
            <a:r>
              <a:rPr dirty="0" sz="900" spc="9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Calibri"/>
                <a:cs typeface="Calibri"/>
              </a:rPr>
              <a:t>séries</a:t>
            </a:r>
            <a:r>
              <a:rPr dirty="0" sz="900" spc="5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 spc="500">
                <a:solidFill>
                  <a:srgbClr val="22373A"/>
                </a:solidFill>
                <a:latin typeface="Calibri"/>
                <a:cs typeface="Calibri"/>
              </a:rPr>
              <a:t>	</a:t>
            </a:r>
            <a:r>
              <a:rPr dirty="0" sz="900">
                <a:solidFill>
                  <a:srgbClr val="22373A"/>
                </a:solidFill>
                <a:latin typeface="Calibri"/>
                <a:cs typeface="Calibri"/>
              </a:rPr>
              <a:t>de</a:t>
            </a:r>
            <a:r>
              <a:rPr dirty="0" sz="900" spc="4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22373A"/>
                </a:solidFill>
                <a:latin typeface="Calibri"/>
                <a:cs typeface="Calibri"/>
              </a:rPr>
              <a:t>tests.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9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</a:pPr>
            <a:r>
              <a:rPr dirty="0" sz="700" spc="-50">
                <a:solidFill>
                  <a:srgbClr val="22373A"/>
                </a:solidFill>
                <a:latin typeface="Calibri"/>
                <a:cs typeface="Calibri"/>
              </a:rPr>
              <a:t>7</a:t>
            </a:r>
            <a:endParaRPr sz="700"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5854" y="1312529"/>
            <a:ext cx="234823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95" b="1">
                <a:solidFill>
                  <a:srgbClr val="22373A"/>
                </a:solidFill>
                <a:latin typeface="Calibri"/>
                <a:cs typeface="Calibri"/>
                <a:hlinkClick r:id="rId2" action="ppaction://hlinksldjump"/>
              </a:rPr>
              <a:t>Conclusion</a:t>
            </a:r>
            <a:r>
              <a:rPr dirty="0" sz="1400" spc="235" b="1">
                <a:solidFill>
                  <a:srgbClr val="22373A"/>
                </a:solidFill>
                <a:latin typeface="Calibri"/>
                <a:cs typeface="Calibri"/>
                <a:hlinkClick r:id="rId2" action="ppaction://hlinksldjump"/>
              </a:rPr>
              <a:t> </a:t>
            </a:r>
            <a:r>
              <a:rPr dirty="0" sz="1400" spc="70" b="1">
                <a:solidFill>
                  <a:srgbClr val="22373A"/>
                </a:solidFill>
                <a:latin typeface="Calibri"/>
                <a:cs typeface="Calibri"/>
                <a:hlinkClick r:id="rId2" action="ppaction://hlinksldjump"/>
              </a:rPr>
              <a:t>et</a:t>
            </a:r>
            <a:r>
              <a:rPr dirty="0" sz="1400" spc="240" b="1">
                <a:solidFill>
                  <a:srgbClr val="22373A"/>
                </a:solidFill>
                <a:latin typeface="Calibri"/>
                <a:cs typeface="Calibri"/>
                <a:hlinkClick r:id="rId2" action="ppaction://hlinksldjump"/>
              </a:rPr>
              <a:t> </a:t>
            </a:r>
            <a:r>
              <a:rPr dirty="0" sz="1400" spc="80" b="1">
                <a:solidFill>
                  <a:srgbClr val="22373A"/>
                </a:solidFill>
                <a:latin typeface="Calibri"/>
                <a:cs typeface="Calibri"/>
                <a:hlinkClick r:id="rId2" action="ppaction://hlinksldjump"/>
              </a:rPr>
              <a:t>Perspectives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488554" y="1682032"/>
            <a:ext cx="2783205" cy="5080"/>
            <a:chOff x="1488554" y="1682032"/>
            <a:chExt cx="2783205" cy="5080"/>
          </a:xfrm>
        </p:grpSpPr>
        <p:sp>
          <p:nvSpPr>
            <p:cNvPr id="4" name="object 4"/>
            <p:cNvSpPr/>
            <p:nvPr/>
          </p:nvSpPr>
          <p:spPr>
            <a:xfrm>
              <a:off x="1488554" y="1682032"/>
              <a:ext cx="2783205" cy="5080"/>
            </a:xfrm>
            <a:custGeom>
              <a:avLst/>
              <a:gdLst/>
              <a:ahLst/>
              <a:cxnLst/>
              <a:rect l="l" t="t" r="r" b="b"/>
              <a:pathLst>
                <a:path w="2783204" h="5080">
                  <a:moveTo>
                    <a:pt x="0" y="5060"/>
                  </a:moveTo>
                  <a:lnTo>
                    <a:pt x="0" y="0"/>
                  </a:lnTo>
                  <a:lnTo>
                    <a:pt x="2782917" y="0"/>
                  </a:lnTo>
                  <a:lnTo>
                    <a:pt x="278291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488554" y="1682032"/>
              <a:ext cx="2435225" cy="5080"/>
            </a:xfrm>
            <a:custGeom>
              <a:avLst/>
              <a:gdLst/>
              <a:ahLst/>
              <a:cxnLst/>
              <a:rect l="l" t="t" r="r" b="b"/>
              <a:pathLst>
                <a:path w="2435225" h="5080">
                  <a:moveTo>
                    <a:pt x="0" y="5060"/>
                  </a:moveTo>
                  <a:lnTo>
                    <a:pt x="0" y="0"/>
                  </a:lnTo>
                  <a:lnTo>
                    <a:pt x="2435053" y="0"/>
                  </a:lnTo>
                  <a:lnTo>
                    <a:pt x="243505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2D7D0A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50"/>
              <a:t>5.1</a:t>
            </a:r>
            <a:r>
              <a:rPr dirty="0" spc="275"/>
              <a:t> </a:t>
            </a:r>
            <a:r>
              <a:rPr dirty="0" spc="65"/>
              <a:t>Bilan</a:t>
            </a:r>
            <a:r>
              <a:rPr dirty="0" spc="280"/>
              <a:t> </a:t>
            </a:r>
            <a:r>
              <a:rPr dirty="0" spc="20"/>
              <a:t>et</a:t>
            </a:r>
            <a:r>
              <a:rPr dirty="0" spc="275"/>
              <a:t> </a:t>
            </a:r>
            <a:r>
              <a:rPr dirty="0" spc="20"/>
              <a:t>Perspectives</a:t>
            </a:r>
            <a:r>
              <a:rPr dirty="0" spc="280"/>
              <a:t> </a:t>
            </a:r>
            <a:r>
              <a:rPr dirty="0" spc="-10"/>
              <a:t>d’Évolution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472381"/>
            <a:ext cx="5340985" cy="26803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solidFill>
                  <a:srgbClr val="22373A"/>
                </a:solidFill>
                <a:latin typeface="Calibri"/>
                <a:cs typeface="Calibri"/>
              </a:rPr>
              <a:t>Bilan</a:t>
            </a:r>
            <a:r>
              <a:rPr dirty="0" sz="1000" spc="31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2373A"/>
                </a:solidFill>
                <a:latin typeface="Calibri"/>
                <a:cs typeface="Calibri"/>
              </a:rPr>
              <a:t>du</a:t>
            </a:r>
            <a:r>
              <a:rPr dirty="0" sz="1000" spc="315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2373A"/>
                </a:solidFill>
                <a:latin typeface="Calibri"/>
                <a:cs typeface="Calibri"/>
              </a:rPr>
              <a:t>Projet</a:t>
            </a:r>
            <a:r>
              <a:rPr dirty="0" sz="1000" spc="31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50" b="1">
                <a:solidFill>
                  <a:srgbClr val="22373A"/>
                </a:solidFill>
                <a:latin typeface="Calibri"/>
                <a:cs typeface="Calibri"/>
              </a:rPr>
              <a:t>:</a:t>
            </a:r>
            <a:endParaRPr sz="1000">
              <a:latin typeface="Calibri"/>
              <a:cs typeface="Calibri"/>
            </a:endParaRPr>
          </a:p>
          <a:p>
            <a:pPr marL="264795" indent="-125730">
              <a:lnSpc>
                <a:spcPct val="100000"/>
              </a:lnSpc>
              <a:spcBef>
                <a:spcPts val="969"/>
              </a:spcBef>
              <a:buChar char="•"/>
              <a:tabLst>
                <a:tab pos="264795" algn="l"/>
              </a:tabLst>
            </a:pP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Prototype</a:t>
            </a:r>
            <a:r>
              <a:rPr dirty="0" sz="1000" spc="8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fonctionnel</a:t>
            </a:r>
            <a:r>
              <a:rPr dirty="0" sz="1000" spc="8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validé</a:t>
            </a:r>
            <a:r>
              <a:rPr dirty="0" sz="1000" spc="8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par</a:t>
            </a:r>
            <a:r>
              <a:rPr dirty="0" sz="1000" spc="8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simulation.</a:t>
            </a:r>
            <a:endParaRPr sz="1000">
              <a:latin typeface="Calibri"/>
              <a:cs typeface="Calibri"/>
            </a:endParaRPr>
          </a:p>
          <a:p>
            <a:pPr marL="264795" indent="-125730">
              <a:lnSpc>
                <a:spcPct val="100000"/>
              </a:lnSpc>
              <a:spcBef>
                <a:spcPts val="475"/>
              </a:spcBef>
              <a:buChar char="•"/>
              <a:tabLst>
                <a:tab pos="264795" algn="l"/>
              </a:tabLst>
            </a:pP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Architecture</a:t>
            </a:r>
            <a:r>
              <a:rPr dirty="0" sz="1000" spc="1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60">
                <a:solidFill>
                  <a:srgbClr val="22373A"/>
                </a:solidFill>
                <a:latin typeface="Calibri"/>
                <a:cs typeface="Calibri"/>
              </a:rPr>
              <a:t>IoT</a:t>
            </a:r>
            <a:r>
              <a:rPr dirty="0" sz="1000" spc="1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complète</a:t>
            </a:r>
            <a:r>
              <a:rPr dirty="0" sz="1000" spc="1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(Capteur</a:t>
            </a:r>
            <a:r>
              <a:rPr dirty="0" sz="1000" spc="1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2373A"/>
                </a:solidFill>
                <a:latin typeface="Arial"/>
                <a:cs typeface="Arial"/>
              </a:rPr>
              <a:t>→</a:t>
            </a:r>
            <a:r>
              <a:rPr dirty="0" sz="1000" spc="55" i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Cloud</a:t>
            </a:r>
            <a:r>
              <a:rPr dirty="0" sz="1000" spc="1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22373A"/>
                </a:solidFill>
                <a:latin typeface="Arial"/>
                <a:cs typeface="Arial"/>
              </a:rPr>
              <a:t>→</a:t>
            </a:r>
            <a:r>
              <a:rPr dirty="0" sz="1000" spc="50" i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Actionneur).</a:t>
            </a:r>
            <a:endParaRPr sz="1000">
              <a:latin typeface="Calibri"/>
              <a:cs typeface="Calibri"/>
            </a:endParaRPr>
          </a:p>
          <a:p>
            <a:pPr marL="264795" indent="-125730">
              <a:lnSpc>
                <a:spcPct val="100000"/>
              </a:lnSpc>
              <a:spcBef>
                <a:spcPts val="475"/>
              </a:spcBef>
              <a:buChar char="•"/>
              <a:tabLst>
                <a:tab pos="264795" algn="l"/>
              </a:tabLst>
            </a:pP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Coût</a:t>
            </a:r>
            <a:r>
              <a:rPr dirty="0" sz="1000" spc="5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de</a:t>
            </a:r>
            <a:r>
              <a:rPr dirty="0" sz="1000" spc="5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déploiement</a:t>
            </a:r>
            <a:r>
              <a:rPr dirty="0" sz="1000" spc="5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extrêmement</a:t>
            </a:r>
            <a:r>
              <a:rPr dirty="0" sz="1000" spc="5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faible</a:t>
            </a:r>
            <a:r>
              <a:rPr dirty="0" sz="1000" spc="5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par</a:t>
            </a:r>
            <a:r>
              <a:rPr dirty="0" sz="1000" spc="6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rapport</a:t>
            </a:r>
            <a:r>
              <a:rPr dirty="0" sz="1000" spc="5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aux</a:t>
            </a:r>
            <a:r>
              <a:rPr dirty="0" sz="1000" spc="5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solutions</a:t>
            </a:r>
            <a:r>
              <a:rPr dirty="0" sz="1000" spc="5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industrielles.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dirty="0" sz="1000" b="1">
                <a:solidFill>
                  <a:srgbClr val="22373A"/>
                </a:solidFill>
                <a:latin typeface="Calibri"/>
                <a:cs typeface="Calibri"/>
              </a:rPr>
              <a:t>Évolutions</a:t>
            </a:r>
            <a:r>
              <a:rPr dirty="0" sz="1000" spc="375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2373A"/>
                </a:solidFill>
                <a:latin typeface="Calibri"/>
                <a:cs typeface="Calibri"/>
              </a:rPr>
              <a:t>Futures</a:t>
            </a:r>
            <a:r>
              <a:rPr dirty="0" sz="1000" spc="375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50" b="1">
                <a:solidFill>
                  <a:srgbClr val="22373A"/>
                </a:solidFill>
                <a:latin typeface="Calibri"/>
                <a:cs typeface="Calibri"/>
              </a:rPr>
              <a:t>:</a:t>
            </a:r>
            <a:endParaRPr sz="1000">
              <a:latin typeface="Calibri"/>
              <a:cs typeface="Calibri"/>
            </a:endParaRPr>
          </a:p>
          <a:p>
            <a:pPr marL="264160" marR="309880" indent="-125730">
              <a:lnSpc>
                <a:spcPct val="114599"/>
              </a:lnSpc>
              <a:spcBef>
                <a:spcPts val="795"/>
              </a:spcBef>
              <a:buFont typeface="Calibri"/>
              <a:buChar char="•"/>
              <a:tabLst>
                <a:tab pos="265430" algn="l"/>
              </a:tabLst>
            </a:pPr>
            <a:r>
              <a:rPr dirty="0" sz="1000" spc="90" b="1">
                <a:solidFill>
                  <a:srgbClr val="22373A"/>
                </a:solidFill>
                <a:latin typeface="Calibri"/>
                <a:cs typeface="Calibri"/>
              </a:rPr>
              <a:t>IA</a:t>
            </a:r>
            <a:r>
              <a:rPr dirty="0" sz="1000" spc="114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2373A"/>
                </a:solidFill>
                <a:latin typeface="Calibri"/>
                <a:cs typeface="Calibri"/>
              </a:rPr>
              <a:t>Embarquée</a:t>
            </a:r>
            <a:r>
              <a:rPr dirty="0" sz="1000" spc="12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2373A"/>
                </a:solidFill>
                <a:latin typeface="Calibri"/>
                <a:cs typeface="Calibri"/>
              </a:rPr>
              <a:t>:</a:t>
            </a:r>
            <a:r>
              <a:rPr dirty="0" sz="1000" spc="9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Intégration</a:t>
            </a:r>
            <a:r>
              <a:rPr dirty="0" sz="1000" spc="9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de</a:t>
            </a:r>
            <a:r>
              <a:rPr dirty="0" sz="1000" spc="9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modèles</a:t>
            </a:r>
            <a:r>
              <a:rPr dirty="0" sz="1000" spc="9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70">
                <a:solidFill>
                  <a:srgbClr val="22373A"/>
                </a:solidFill>
                <a:latin typeface="Calibri"/>
                <a:cs typeface="Calibri"/>
              </a:rPr>
              <a:t>TinyYOLO</a:t>
            </a:r>
            <a:r>
              <a:rPr dirty="0" sz="1000" spc="9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pour</a:t>
            </a:r>
            <a:r>
              <a:rPr dirty="0" sz="1000" spc="9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une</a:t>
            </a:r>
            <a:r>
              <a:rPr dirty="0" sz="1000" spc="9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reconnaissance</a:t>
            </a:r>
            <a:r>
              <a:rPr dirty="0" sz="1000" spc="9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précise</a:t>
            </a:r>
            <a:r>
              <a:rPr dirty="0" sz="1000" spc="9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Calibri"/>
                <a:cs typeface="Calibri"/>
              </a:rPr>
              <a:t>(sac </a:t>
            </a:r>
            <a:r>
              <a:rPr dirty="0" sz="1000" spc="-20">
                <a:solidFill>
                  <a:srgbClr val="22373A"/>
                </a:solidFill>
                <a:latin typeface="Calibri"/>
                <a:cs typeface="Calibri"/>
              </a:rPr>
              <a:t>	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vs</a:t>
            </a:r>
            <a:r>
              <a:rPr dirty="0" sz="1000" spc="9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animal).</a:t>
            </a:r>
            <a:endParaRPr sz="1000">
              <a:latin typeface="Calibri"/>
              <a:cs typeface="Calibri"/>
            </a:endParaRPr>
          </a:p>
          <a:p>
            <a:pPr marL="264160" marR="304165" indent="-125730">
              <a:lnSpc>
                <a:spcPct val="114599"/>
              </a:lnSpc>
              <a:spcBef>
                <a:spcPts val="300"/>
              </a:spcBef>
              <a:buFont typeface="Calibri"/>
              <a:buChar char="•"/>
              <a:tabLst>
                <a:tab pos="265430" algn="l"/>
              </a:tabLst>
            </a:pPr>
            <a:r>
              <a:rPr dirty="0" sz="1000" b="1">
                <a:solidFill>
                  <a:srgbClr val="22373A"/>
                </a:solidFill>
                <a:latin typeface="Calibri"/>
                <a:cs typeface="Calibri"/>
              </a:rPr>
              <a:t>Énergie</a:t>
            </a:r>
            <a:r>
              <a:rPr dirty="0" sz="1000" spc="145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2373A"/>
                </a:solidFill>
                <a:latin typeface="Calibri"/>
                <a:cs typeface="Calibri"/>
              </a:rPr>
              <a:t>:</a:t>
            </a:r>
            <a:r>
              <a:rPr dirty="0" sz="1000" spc="120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Utilisation</a:t>
            </a:r>
            <a:r>
              <a:rPr dirty="0" sz="1000" spc="12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de</a:t>
            </a:r>
            <a:r>
              <a:rPr dirty="0" sz="1000" spc="114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panneaux</a:t>
            </a:r>
            <a:r>
              <a:rPr dirty="0" sz="1000" spc="12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solaires</a:t>
            </a:r>
            <a:r>
              <a:rPr dirty="0" sz="1000" spc="12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et</a:t>
            </a:r>
            <a:r>
              <a:rPr dirty="0" sz="1000" spc="12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du</a:t>
            </a:r>
            <a:r>
              <a:rPr dirty="0" sz="1000" spc="114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mode</a:t>
            </a:r>
            <a:r>
              <a:rPr dirty="0" sz="1000" spc="12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"Deep</a:t>
            </a:r>
            <a:r>
              <a:rPr dirty="0" sz="1000" spc="12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Sleep"</a:t>
            </a:r>
            <a:r>
              <a:rPr dirty="0" sz="1000" spc="114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de</a:t>
            </a:r>
            <a:r>
              <a:rPr dirty="0" sz="1000" spc="12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l’ESP32</a:t>
            </a:r>
            <a:r>
              <a:rPr dirty="0" sz="1000" spc="12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pour</a:t>
            </a:r>
            <a:r>
              <a:rPr dirty="0" sz="1000" spc="114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Calibri"/>
                <a:cs typeface="Calibri"/>
              </a:rPr>
              <a:t>une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 	autonomie</a:t>
            </a:r>
            <a:r>
              <a:rPr dirty="0" sz="1000" spc="6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totale.</a:t>
            </a:r>
            <a:endParaRPr sz="1000">
              <a:latin typeface="Calibri"/>
              <a:cs typeface="Calibri"/>
            </a:endParaRPr>
          </a:p>
          <a:p>
            <a:pPr marL="264160" marR="375920" indent="-125730">
              <a:lnSpc>
                <a:spcPct val="114599"/>
              </a:lnSpc>
              <a:spcBef>
                <a:spcPts val="300"/>
              </a:spcBef>
              <a:buFont typeface="Calibri"/>
              <a:buChar char="•"/>
              <a:tabLst>
                <a:tab pos="265430" algn="l"/>
              </a:tabLst>
            </a:pPr>
            <a:r>
              <a:rPr dirty="0" sz="1000" b="1">
                <a:solidFill>
                  <a:srgbClr val="22373A"/>
                </a:solidFill>
                <a:latin typeface="Calibri"/>
                <a:cs typeface="Calibri"/>
              </a:rPr>
              <a:t>Supervision</a:t>
            </a:r>
            <a:r>
              <a:rPr dirty="0" sz="1000" spc="125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22373A"/>
                </a:solidFill>
                <a:latin typeface="Calibri"/>
                <a:cs typeface="Calibri"/>
              </a:rPr>
              <a:t>:</a:t>
            </a:r>
            <a:r>
              <a:rPr dirty="0" sz="1000" spc="95" b="1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Centralisation</a:t>
            </a:r>
            <a:r>
              <a:rPr dirty="0" sz="1000" spc="1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des</a:t>
            </a:r>
            <a:r>
              <a:rPr dirty="0" sz="1000" spc="9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20">
                <a:solidFill>
                  <a:srgbClr val="22373A"/>
                </a:solidFill>
                <a:latin typeface="Calibri"/>
                <a:cs typeface="Calibri"/>
              </a:rPr>
              <a:t>données</a:t>
            </a:r>
            <a:r>
              <a:rPr dirty="0" sz="1000" spc="1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sur</a:t>
            </a:r>
            <a:r>
              <a:rPr dirty="0" sz="1000" spc="9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un</a:t>
            </a:r>
            <a:r>
              <a:rPr dirty="0" sz="1000" spc="1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tableau</a:t>
            </a:r>
            <a:r>
              <a:rPr dirty="0" sz="1000" spc="9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de</a:t>
            </a:r>
            <a:r>
              <a:rPr dirty="0" sz="1000" spc="1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bord</a:t>
            </a:r>
            <a:r>
              <a:rPr dirty="0" sz="1000" spc="9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Grafana</a:t>
            </a:r>
            <a:r>
              <a:rPr dirty="0" sz="1000" spc="10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pour</a:t>
            </a:r>
            <a:r>
              <a:rPr dirty="0" sz="1000" spc="9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optimiser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	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les</a:t>
            </a:r>
            <a:r>
              <a:rPr dirty="0" sz="1000" spc="5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trajets</a:t>
            </a:r>
            <a:r>
              <a:rPr dirty="0" sz="1000" spc="6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de</a:t>
            </a:r>
            <a:r>
              <a:rPr dirty="0" sz="1000" spc="6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collecte</a:t>
            </a:r>
            <a:r>
              <a:rPr dirty="0" sz="1000" spc="5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à</a:t>
            </a:r>
            <a:r>
              <a:rPr dirty="0" sz="1000" spc="6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l’échelle</a:t>
            </a:r>
            <a:r>
              <a:rPr dirty="0" sz="1000" spc="60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2373A"/>
                </a:solidFill>
                <a:latin typeface="Calibri"/>
                <a:cs typeface="Calibri"/>
              </a:rPr>
              <a:t>d’un</a:t>
            </a:r>
            <a:r>
              <a:rPr dirty="0" sz="1000" spc="55">
                <a:solidFill>
                  <a:srgbClr val="22373A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Calibri"/>
                <a:cs typeface="Calibri"/>
              </a:rPr>
              <a:t>quartier.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100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</a:pPr>
            <a:r>
              <a:rPr dirty="0" sz="700" spc="-50">
                <a:solidFill>
                  <a:srgbClr val="22373A"/>
                </a:solidFill>
                <a:latin typeface="Calibri"/>
                <a:cs typeface="Calibri"/>
              </a:rPr>
              <a:t>8</a:t>
            </a:r>
            <a:endParaRPr sz="700"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2D7D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648548" y="1414129"/>
            <a:ext cx="246316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95" b="1">
                <a:solidFill>
                  <a:srgbClr val="F9F9F9"/>
                </a:solidFill>
                <a:latin typeface="Calibri"/>
                <a:cs typeface="Calibri"/>
              </a:rPr>
              <a:t>Merci</a:t>
            </a:r>
            <a:r>
              <a:rPr dirty="0" sz="1400" spc="225" b="1">
                <a:solidFill>
                  <a:srgbClr val="F9F9F9"/>
                </a:solidFill>
                <a:latin typeface="Calibri"/>
                <a:cs typeface="Calibri"/>
              </a:rPr>
              <a:t> </a:t>
            </a:r>
            <a:r>
              <a:rPr dirty="0" sz="1400" spc="90" b="1">
                <a:solidFill>
                  <a:srgbClr val="F9F9F9"/>
                </a:solidFill>
                <a:latin typeface="Calibri"/>
                <a:cs typeface="Calibri"/>
              </a:rPr>
              <a:t>pour</a:t>
            </a:r>
            <a:r>
              <a:rPr dirty="0" sz="1400" spc="229" b="1">
                <a:solidFill>
                  <a:srgbClr val="F9F9F9"/>
                </a:solidFill>
                <a:latin typeface="Calibri"/>
                <a:cs typeface="Calibri"/>
              </a:rPr>
              <a:t> </a:t>
            </a:r>
            <a:r>
              <a:rPr dirty="0" sz="1400" spc="70" b="1">
                <a:solidFill>
                  <a:srgbClr val="F9F9F9"/>
                </a:solidFill>
                <a:latin typeface="Calibri"/>
                <a:cs typeface="Calibri"/>
              </a:rPr>
              <a:t>votre</a:t>
            </a:r>
            <a:r>
              <a:rPr dirty="0" sz="1400" spc="229" b="1">
                <a:solidFill>
                  <a:srgbClr val="F9F9F9"/>
                </a:solidFill>
                <a:latin typeface="Calibri"/>
                <a:cs typeface="Calibri"/>
              </a:rPr>
              <a:t> </a:t>
            </a:r>
            <a:r>
              <a:rPr dirty="0" sz="1400" spc="80" b="1">
                <a:solidFill>
                  <a:srgbClr val="F9F9F9"/>
                </a:solidFill>
                <a:latin typeface="Calibri"/>
                <a:cs typeface="Calibri"/>
              </a:rPr>
              <a:t>attention</a:t>
            </a:r>
            <a:r>
              <a:rPr dirty="0" sz="1400" spc="-40" b="1">
                <a:solidFill>
                  <a:srgbClr val="F9F9F9"/>
                </a:solidFill>
                <a:latin typeface="Calibri"/>
                <a:cs typeface="Calibri"/>
              </a:rPr>
              <a:t> </a:t>
            </a:r>
            <a:r>
              <a:rPr dirty="0" sz="1400" spc="30" b="1">
                <a:solidFill>
                  <a:srgbClr val="F9F9F9"/>
                </a:solidFill>
                <a:latin typeface="Calibri"/>
                <a:cs typeface="Calibri"/>
              </a:rPr>
              <a:t>!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13615" y="3020659"/>
            <a:ext cx="7493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solidFill>
                  <a:srgbClr val="22373A"/>
                </a:solidFill>
                <a:latin typeface="Calibri"/>
                <a:cs typeface="Calibri"/>
              </a:rPr>
              <a:t>8</a:t>
            </a:r>
            <a:endParaRPr sz="700"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2373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Benazza Mohammed, Labrazi Mohammed yassineY., Achalhi Abdeljalil, Badr boulaid</dc:creator>
  <dc:title>TrashTracker - Système IoT de Surveillance des Poubelles Publiques en Temps Réel</dc:title>
  <dcterms:created xsi:type="dcterms:W3CDTF">2026-04-28T23:02:17Z</dcterms:created>
  <dcterms:modified xsi:type="dcterms:W3CDTF">2026-04-28T23:02:17Z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2026-04-28T00:00:00Z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2026-04-28T00:00:00Z</vt:filetime>
  </property>
  <property fmtid="{D5CDD505-2E9C-101B-9397-08002B2CF9AE}" pid="5" name="PTEX.Fullbanner">
    <vt:lpwstr>This is pdfTeX, Version 3.141592653-2.6-1.40.27 (TeX Live 2025) kpathsea version 6.4.1</vt:lpwstr>
  </property>
  <property fmtid="{D5CDD505-2E9C-101B-9397-08002B2CF9AE}" pid="6" name="Producer">
    <vt:lpwstr>pdfTeX-1.40.27</vt:lpwstr>
  </property>
</Properties>
</file>